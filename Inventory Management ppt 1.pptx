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837" r:id="rId4"/>
  </p:sldMasterIdLst>
  <p:notesMasterIdLst>
    <p:notesMasterId r:id="rId18"/>
  </p:notesMasterIdLst>
  <p:handoutMasterIdLst>
    <p:handoutMasterId r:id="rId19"/>
  </p:handoutMasterIdLst>
  <p:sldIdLst>
    <p:sldId id="262" r:id="rId5"/>
    <p:sldId id="2147483644" r:id="rId6"/>
    <p:sldId id="2147483646" r:id="rId7"/>
    <p:sldId id="2147483647" r:id="rId8"/>
    <p:sldId id="256" r:id="rId9"/>
    <p:sldId id="265" r:id="rId10"/>
    <p:sldId id="260" r:id="rId11"/>
    <p:sldId id="258" r:id="rId12"/>
    <p:sldId id="257" r:id="rId13"/>
    <p:sldId id="261" r:id="rId14"/>
    <p:sldId id="264" r:id="rId15"/>
    <p:sldId id="259" r:id="rId16"/>
    <p:sldId id="26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E0546B07-81DF-26B0-5D4F-6F202748FAF3}" name="Bhagwat Kumar" initials="BK" userId="S::bhagwat.kumar@mphasis.com::68819df8-096b-407b-a66b-90a8c067aa41" providerId="AD"/>
  <p188:author id="{3987B608-771F-7B1F-4CE1-61E4577F4E0F}" name="Tarun Singh" initials="" userId="S::tarun.singh@mphasis.com::b74f7aa2-56a4-4584-a336-a14805c07128" providerId="AD"/>
  <p188:author id="{0CF1D70B-643C-C948-5BF8-2A7DC8ABF81D}" name="Pankaj K" initials="" userId="S::Pankaj.K@mphasis.com::6723735c-4e13-42bf-b507-6a581143f2a1" providerId="AD"/>
  <p188:author id="{B8D3D01A-84EA-A2C1-A2F6-262DB6714978}" name="Manoj YadavR" initials="" userId="S::manoj.yadavr@mphasis.com::578d21c4-8d5a-481b-8f39-925950ac1911" providerId="AD"/>
  <p188:author id="{B01CF01F-5D13-1154-F17D-AE6CB71DCE1B}" name="Pradeep Patil2" initials="PP" userId="S::pradeep.patil2@mphasis.com::c925aa4f-a790-4b2e-b75d-20eb9ce546eb" providerId="AD"/>
  <p188:author id="{71FFE85C-669C-D242-6EF2-84596B51718F}" name="Sachin Garg" initials="SG" userId="S::sachin.garg@mphasis.com::1be550f1-2aaa-4cf8-82f2-5d866e76ec74" providerId="AD"/>
  <p188:author id="{9C34557B-6AD1-92A7-D072-BF8E40B7EC2E}" name="Nitin Nikhare" initials="NN" userId="S::Nitin.Nikhare@mphasis.com::52c7fc5c-129c-4b2d-b541-73b361ab91ad" providerId="AD"/>
  <p188:author id="{54545184-6CEE-F7AE-5ED5-73508AA5C4B2}" name="Suresh Vedakumar" initials="" userId="S::Suresh.Vedakumar@mphasis.com::49bfc379-8cf4-4b9a-8ebc-c5c8aa11087f" providerId="AD"/>
  <p188:author id="{852B2E86-17A4-2DDE-A2AC-1416DEEE5E99}" name="Cory Schmeisser" initials="" userId="S::christopher.s@mphasis.com::2d2606f9-6743-461c-9d15-ba31868ffad0" providerId="AD"/>
  <p188:author id="{DD81EF9E-4331-13EA-C61A-31DC2ED8843B}" name="Bharath Mohan" initials="BM" userId="S::bharath.mohan@mphasis.com::a5e4abd3-f893-4c55-b0fd-5b7d602f8f17" providerId="AD"/>
  <p188:author id="{B6BBD6A3-2A41-B735-45A8-31461AD6F56A}" name="Gregory Wittenbrook" initials="GW" userId="S::gregory.wittenbrook@mphasis.com::69282454-7b9b-4344-b768-0bba4367768d" providerId="AD"/>
  <p188:author id="{7450CCAA-C305-548B-CF06-0936523CE03B}" name="Neil Gulino" initials="AG" userId="S::aniello.gulino@mphasis.com::1232f894-46f9-49f5-98c6-74d967b641dc" providerId="AD"/>
  <p188:author id="{4BCF3FAF-517B-F0B1-8449-DF6001540CA8}" name="Nitin Bhardwaj" initials="" userId="S::Nitin.Bhardwaj@mphasis.com::cc4f3cb3-de40-41b6-8223-4ecd0ca618ac" providerId="AD"/>
  <p188:author id="{CB2045B6-833E-68BE-62DF-7061E1935E43}" name="Agnelo Marques" initials="AM" userId="S::Agnelo.Marques@mphasis.com::bbb62c81-9619-4414-a31f-ed82752ab3ed" providerId="AD"/>
  <p188:author id="{A8D1E8BC-2B01-38A9-7260-4332A114902B}" name="Shaunak Dave" initials="SD" userId="S::shaunak.dave@mphasis.com::1c50db4f-3016-4a08-86bd-38ae7f1a70a1" providerId="AD"/>
  <p188:author id="{816E6EC3-05B7-B620-F7CB-46649E35BCFF}" name="Sourav Sengupta" initials="SS" userId="S::sourav.sengupta1@mphasis.com::049a0a2c-3c7e-49c3-b69e-d0adbca98e73" providerId="AD"/>
  <p188:author id="{4F4718CC-3EBE-E1AA-5B24-7E9C162409A6}" name="ESAKKIMUTHU DOSS" initials="" userId="S::esakkimuthu.doss@mphasis.com::feac13dd-346d-41a6-a2d8-1905572a4378" providerId="AD"/>
  <p188:author id="{9BC55ED1-A248-1467-7C85-C185A2740726}" name="Karthik x2" initials="" userId="S::karthik.x2@mphasis.com::1e37a22a-3fce-46c9-84bf-51b98c7af908" providerId="AD"/>
  <p188:author id="{64D8B5DA-DEF1-DE99-5E46-4E7A5D18A2F0}" name="Jobin Abraham" initials="JA" userId="S::jobin.abraham@mphasis.com::7bc7eed5-2d03-458c-ba36-3f4563f99fa0" providerId="AD"/>
  <p188:author id="{05423CE0-1419-C6D5-4ABA-2CAEFEAB8FEC}" name="Mahamed Arif" initials="MA" userId="S::Mahamed.Arif@mphasis.com::c71255ab-98e0-4b03-b104-7b080406bc97" providerId="AD"/>
  <p188:author id="{DCE1DCE4-E3B0-658C-6C31-678DA75BF6F5}" name="Maligouder V" initials="VM" userId="S::v.maligouder@mphasis.com::a6188fb2-6afa-4573-bf74-4e49d3030c61" providerId="AD"/>
  <p188:author id="{5915F2E4-1EC6-41E2-D923-7C5F19A8E996}" name="Hari Prasad Reddy A.M." initials="" userId="S::hari.a.m@mphasis.com::1157a967-c109-4ef4-b5d6-f947c54cc270" providerId="AD"/>
  <p188:author id="{D39523E9-4D0F-C049-64DD-B0B3D6B07606}" name="M Logarajan" initials="ML" userId="S::m.logarajan@mphasis.com::3327ceb2-5260-4271-b448-a1a2477942bf" providerId="AD"/>
  <p188:author id="{228B85ED-C90C-655A-B6C8-FABDF7FCE0D4}" name="Jyotsna Kancherlapalli" initials="" userId="S::jyotsna.k@mphasis.com::15697502-6bf2-42b6-b373-98896a769981" providerId="AD"/>
  <p188:author id="{220621FC-929A-5F45-AA8A-3FA5201DDF9F}" name="Karthika Nair H" initials="" userId="S::karthika.harikumaran@mphasis.com::d3b25def-5080-4077-9a69-e541532e39d9" providerId="AD"/>
  <p188:author id="{628EECFF-B723-96FF-9FC4-8091B4A9AB77}" name="VenkataSai Pulluri" initials="VP" userId="S::venkatasai.pulluri@mphasis.com::423652eb-a979-4928-8bb0-2cd519ec9a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007A"/>
    <a:srgbClr val="FF4800"/>
    <a:srgbClr val="E20074"/>
    <a:srgbClr val="38A0AD"/>
    <a:srgbClr val="E8E8E8"/>
    <a:srgbClr val="ED008C"/>
    <a:srgbClr val="85AC2E"/>
    <a:srgbClr val="FF3500"/>
    <a:srgbClr val="969696"/>
    <a:srgbClr val="9CDB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C6B2E4-4206-2273-523D-90B4E38E5E14}" v="132" dt="2026-06-02T05:42:20.291"/>
    <p1510:client id="{A8AF7D6D-FBCB-4DAE-AA41-3FFC662AEFB7}" v="90" dt="2026-06-02T05:35:28.151"/>
    <p1510:client id="{A8C3E630-341D-38AA-CC3B-2FD367FF42CA}" v="2" dt="2026-06-03T06:44:18.381"/>
  </p1510:revLst>
</p1510:revInfo>
</file>

<file path=ppt/tableStyles.xml><?xml version="1.0" encoding="utf-8"?>
<a:tblStyleLst xmlns:a="http://schemas.openxmlformats.org/drawingml/2006/main" def="{5C22544A-7EE6-4342-B048-85BDC9FD1C3A}">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1B8E911-CCD8-BB3D-C65A-5EC2F667E60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567949AB-1963-7060-213A-395D199BA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E86AAF-325D-44BB-941C-11318DAC01F6}" type="datetimeFigureOut">
              <a:rPr lang="en-IN" smtClean="0"/>
              <a:t>05-06-2026</a:t>
            </a:fld>
            <a:endParaRPr lang="en-IN"/>
          </a:p>
        </p:txBody>
      </p:sp>
      <p:sp>
        <p:nvSpPr>
          <p:cNvPr id="4" name="Footer Placeholder 3">
            <a:extLst>
              <a:ext uri="{FF2B5EF4-FFF2-40B4-BE49-F238E27FC236}">
                <a16:creationId xmlns:a16="http://schemas.microsoft.com/office/drawing/2014/main" id="{72CAC586-BFD1-3452-AF44-5A4E9D0852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D1AFB84D-9C57-D8AF-0063-22CE8802E36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D74CC9-7D4D-4A82-9F7C-C75654570F1F}" type="slidenum">
              <a:rPr lang="en-IN" smtClean="0"/>
              <a:t>‹#›</a:t>
            </a:fld>
            <a:endParaRPr lang="en-IN"/>
          </a:p>
        </p:txBody>
      </p:sp>
    </p:spTree>
    <p:extLst>
      <p:ext uri="{BB962C8B-B14F-4D97-AF65-F5344CB8AC3E}">
        <p14:creationId xmlns:p14="http://schemas.microsoft.com/office/powerpoint/2010/main" val="161170239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3-15T06:55:42.183"/>
    </inkml:context>
    <inkml:brush xml:id="br0">
      <inkml:brushProperty name="width" value="0.1" units="cm"/>
      <inkml:brushProperty name="height" value="0.1" units="cm"/>
      <inkml:brushProperty name="color" value="#FFFFFF"/>
    </inkml:brush>
  </inkml:definitions>
  <inkml:trace contextRef="#ctx0" brushRef="#br0">2499 3857 16383 0 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64EEF8-A9EB-4ABD-8D0E-BAFDDE90EE41}" type="datetimeFigureOut">
              <a:rPr lang="en-IN" smtClean="0"/>
              <a:t>05-06-2026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99EB0-6DB4-4210-AC99-5B29B077CB13}" type="slidenum">
              <a:rPr lang="en-IN" smtClean="0"/>
              <a:t>‹#›</a:t>
            </a:fld>
            <a:endParaRPr lang="en-IN"/>
          </a:p>
        </p:txBody>
      </p:sp>
    </p:spTree>
    <p:extLst>
      <p:ext uri="{BB962C8B-B14F-4D97-AF65-F5344CB8AC3E}">
        <p14:creationId xmlns:p14="http://schemas.microsoft.com/office/powerpoint/2010/main" val="3284742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2E793-2A76-72DA-8713-26646F5A33A8}"/>
              </a:ext>
            </a:extLst>
          </p:cNvPr>
          <p:cNvSpPr>
            <a:spLocks noGrp="1"/>
          </p:cNvSpPr>
          <p:nvPr>
            <p:ph type="title"/>
          </p:nvPr>
        </p:nvSpPr>
        <p:spPr>
          <a:xfrm>
            <a:off x="280416" y="208502"/>
            <a:ext cx="10633117" cy="400110"/>
          </a:xfrm>
        </p:spPr>
        <p:txBody>
          <a:bodyPr wrap="square" lIns="0" tIns="0" rIns="0" bIns="0" anchor="t">
            <a:spAutoFit/>
          </a:bodyPr>
          <a:lstStyle>
            <a:lvl1pPr>
              <a:lnSpc>
                <a:spcPct val="100000"/>
              </a:lnSpc>
              <a:defRPr sz="2600">
                <a:solidFill>
                  <a:schemeClr val="bg2"/>
                </a:solidFill>
              </a:defRPr>
            </a:lvl1pPr>
          </a:lstStyle>
          <a:p>
            <a:r>
              <a:rPr lang="en-US"/>
              <a:t>Click to edit Master title style</a:t>
            </a:r>
            <a:endParaRPr lang="en-IN"/>
          </a:p>
        </p:txBody>
      </p:sp>
      <p:pic>
        <p:nvPicPr>
          <p:cNvPr id="6" name="Picture 5">
            <a:extLst>
              <a:ext uri="{FF2B5EF4-FFF2-40B4-BE49-F238E27FC236}">
                <a16:creationId xmlns:a16="http://schemas.microsoft.com/office/drawing/2014/main" id="{1DE024FD-435F-39FD-9EA4-B9E40BCF2FB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0339803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only Mphasis">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E84F472-4640-E32E-1847-EC5C5439D795}"/>
              </a:ext>
            </a:extLst>
          </p:cNvPr>
          <p:cNvPicPr>
            <a:picLocks noChangeAspect="1"/>
          </p:cNvPicPr>
          <p:nvPr userDrawn="1"/>
        </p:nvPicPr>
        <p:blipFill>
          <a:blip r:embed="rId2" cstate="email">
            <a:extLst>
              <a:ext uri="{28A0092B-C50C-407E-A947-70E740481C1C}">
                <a14:useLocalDpi xmlns:a14="http://schemas.microsoft.com/office/drawing/2010/main" val="0"/>
              </a:ext>
            </a:extLst>
          </a:blip>
          <a:srcRect/>
          <a:stretch/>
        </p:blipFill>
        <p:spPr>
          <a:xfrm>
            <a:off x="1524" y="0"/>
            <a:ext cx="12188952" cy="6857999"/>
          </a:xfrm>
          <a:prstGeom prst="rect">
            <a:avLst/>
          </a:prstGeom>
        </p:spPr>
      </p:pic>
      <p:sp>
        <p:nvSpPr>
          <p:cNvPr id="2" name="Title 1">
            <a:extLst>
              <a:ext uri="{FF2B5EF4-FFF2-40B4-BE49-F238E27FC236}">
                <a16:creationId xmlns:a16="http://schemas.microsoft.com/office/drawing/2014/main" id="{AAAD0381-0A88-386D-35F1-91FC9C598A76}"/>
              </a:ext>
            </a:extLst>
          </p:cNvPr>
          <p:cNvSpPr>
            <a:spLocks noGrp="1"/>
          </p:cNvSpPr>
          <p:nvPr>
            <p:ph type="ctrTitle" hasCustomPrompt="1"/>
          </p:nvPr>
        </p:nvSpPr>
        <p:spPr>
          <a:xfrm>
            <a:off x="498744" y="2634717"/>
            <a:ext cx="6968856" cy="1421928"/>
          </a:xfrm>
        </p:spPr>
        <p:txBody>
          <a:bodyPr wrap="square" anchor="b">
            <a:spAutoFit/>
          </a:bodyPr>
          <a:lstStyle>
            <a:lvl1pPr algn="l">
              <a:defRPr sz="4800">
                <a:solidFill>
                  <a:schemeClr val="bg1"/>
                </a:solidFill>
                <a:latin typeface="+mj-lt"/>
              </a:defRPr>
            </a:lvl1pPr>
          </a:lstStyle>
          <a:p>
            <a:r>
              <a:rPr lang="en-US"/>
              <a:t>Click to edit Master title </a:t>
            </a:r>
            <a:br>
              <a:rPr lang="en-US"/>
            </a:br>
            <a:r>
              <a:rPr lang="en-US"/>
              <a:t>style</a:t>
            </a:r>
            <a:endParaRPr lang="en-IN"/>
          </a:p>
        </p:txBody>
      </p:sp>
      <p:sp>
        <p:nvSpPr>
          <p:cNvPr id="3" name="Subtitle 2">
            <a:extLst>
              <a:ext uri="{FF2B5EF4-FFF2-40B4-BE49-F238E27FC236}">
                <a16:creationId xmlns:a16="http://schemas.microsoft.com/office/drawing/2014/main" id="{D7443F09-C629-3511-659F-A2BDF373EE06}"/>
              </a:ext>
            </a:extLst>
          </p:cNvPr>
          <p:cNvSpPr>
            <a:spLocks noGrp="1"/>
          </p:cNvSpPr>
          <p:nvPr>
            <p:ph type="subTitle" idx="1"/>
          </p:nvPr>
        </p:nvSpPr>
        <p:spPr>
          <a:xfrm>
            <a:off x="498744" y="4128192"/>
            <a:ext cx="6968856" cy="480131"/>
          </a:xfrm>
        </p:spPr>
        <p:txBody>
          <a:bodyPr>
            <a:spAutoFit/>
          </a:bodyPr>
          <a:lstStyle>
            <a:lvl1pPr marL="0" indent="0" algn="l">
              <a:buNone/>
              <a:defRPr sz="2800" b="1">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pic>
        <p:nvPicPr>
          <p:cNvPr id="6" name="Picture 5">
            <a:extLst>
              <a:ext uri="{FF2B5EF4-FFF2-40B4-BE49-F238E27FC236}">
                <a16:creationId xmlns:a16="http://schemas.microsoft.com/office/drawing/2014/main" id="{25A12056-1CA3-12BC-1D19-8ACDA4C1B6FE}"/>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498744" y="1268782"/>
            <a:ext cx="2334780" cy="776357"/>
          </a:xfrm>
          <a:prstGeom prst="rect">
            <a:avLst/>
          </a:prstGeom>
        </p:spPr>
      </p:pic>
      <p:pic>
        <p:nvPicPr>
          <p:cNvPr id="11" name="Picture 10">
            <a:extLst>
              <a:ext uri="{FF2B5EF4-FFF2-40B4-BE49-F238E27FC236}">
                <a16:creationId xmlns:a16="http://schemas.microsoft.com/office/drawing/2014/main" id="{C336FF60-B6F6-57B7-4DC4-F7F793EEE210}"/>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7656094" y="1561441"/>
            <a:ext cx="3744000" cy="3735119"/>
          </a:xfrm>
          <a:prstGeom prst="rect">
            <a:avLst/>
          </a:prstGeom>
        </p:spPr>
      </p:pic>
      <p:pic>
        <p:nvPicPr>
          <p:cNvPr id="15" name="Picture 14">
            <a:extLst>
              <a:ext uri="{FF2B5EF4-FFF2-40B4-BE49-F238E27FC236}">
                <a16:creationId xmlns:a16="http://schemas.microsoft.com/office/drawing/2014/main" id="{44D4E2CC-2B40-8D6D-93B3-DFC25454CF07}"/>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10180884" y="2614162"/>
            <a:ext cx="2011116" cy="1980000"/>
          </a:xfrm>
          <a:prstGeom prst="rect">
            <a:avLst/>
          </a:prstGeom>
        </p:spPr>
      </p:pic>
    </p:spTree>
    <p:extLst>
      <p:ext uri="{BB962C8B-B14F-4D97-AF65-F5344CB8AC3E}">
        <p14:creationId xmlns:p14="http://schemas.microsoft.com/office/powerpoint/2010/main" val="4833650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Boiler Plate">
    <p:spTree>
      <p:nvGrpSpPr>
        <p:cNvPr id="1" name=""/>
        <p:cNvGrpSpPr/>
        <p:nvPr/>
      </p:nvGrpSpPr>
      <p:grpSpPr>
        <a:xfrm>
          <a:off x="0" y="0"/>
          <a:ext cx="0" cy="0"/>
          <a:chOff x="0" y="0"/>
          <a:chExt cx="0" cy="0"/>
        </a:xfrm>
      </p:grpSpPr>
      <p:pic>
        <p:nvPicPr>
          <p:cNvPr id="10" name="Picture 9" descr="A close up of a device&#10;&#10;Description automatically generated">
            <a:extLst>
              <a:ext uri="{FF2B5EF4-FFF2-40B4-BE49-F238E27FC236}">
                <a16:creationId xmlns:a16="http://schemas.microsoft.com/office/drawing/2014/main" id="{A4631228-6B5F-42C6-B3E8-9E1AF59331AB}"/>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6359"/>
            <a:ext cx="12192000" cy="6845281"/>
          </a:xfrm>
          <a:prstGeom prst="rect">
            <a:avLst/>
          </a:prstGeom>
        </p:spPr>
      </p:pic>
      <p:pic>
        <p:nvPicPr>
          <p:cNvPr id="15" name="Picture 14" descr="A close up of a sign&#10;&#10;Description automatically generated">
            <a:extLst>
              <a:ext uri="{FF2B5EF4-FFF2-40B4-BE49-F238E27FC236}">
                <a16:creationId xmlns:a16="http://schemas.microsoft.com/office/drawing/2014/main" id="{C3FE614F-B2D0-41F6-9E7C-641B27BCEAC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51510" y="217436"/>
            <a:ext cx="2644317" cy="1067549"/>
          </a:xfrm>
          <a:prstGeom prst="rect">
            <a:avLst/>
          </a:prstGeom>
        </p:spPr>
      </p:pic>
      <p:sp>
        <p:nvSpPr>
          <p:cNvPr id="14" name="TextBox 13">
            <a:extLst>
              <a:ext uri="{FF2B5EF4-FFF2-40B4-BE49-F238E27FC236}">
                <a16:creationId xmlns:a16="http://schemas.microsoft.com/office/drawing/2014/main" id="{FA17CC7D-5CE6-4F0B-BBBE-409F8B601BB2}"/>
              </a:ext>
            </a:extLst>
          </p:cNvPr>
          <p:cNvSpPr txBox="1"/>
          <p:nvPr userDrawn="1"/>
        </p:nvSpPr>
        <p:spPr>
          <a:xfrm>
            <a:off x="4451510" y="1581115"/>
            <a:ext cx="3924521" cy="523220"/>
          </a:xfrm>
          <a:prstGeom prst="rect">
            <a:avLst/>
          </a:prstGeom>
          <a:noFill/>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BC1A6F"/>
                </a:solidFill>
                <a:effectLst/>
                <a:uLnTx/>
                <a:uFillTx/>
                <a:latin typeface="Calibri" panose="020F0502020204030204"/>
                <a:ea typeface="+mn-ea"/>
                <a:cs typeface="+mn-cs"/>
              </a:rPr>
              <a:t>THANK YOU</a:t>
            </a:r>
          </a:p>
        </p:txBody>
      </p:sp>
      <p:sp>
        <p:nvSpPr>
          <p:cNvPr id="6" name="TextBox 5">
            <a:extLst>
              <a:ext uri="{FF2B5EF4-FFF2-40B4-BE49-F238E27FC236}">
                <a16:creationId xmlns:a16="http://schemas.microsoft.com/office/drawing/2014/main" id="{607B08AF-0FA4-4300-8A48-0FFBA75C15B2}"/>
              </a:ext>
            </a:extLst>
          </p:cNvPr>
          <p:cNvSpPr txBox="1"/>
          <p:nvPr userDrawn="1"/>
        </p:nvSpPr>
        <p:spPr>
          <a:xfrm>
            <a:off x="4451510" y="4145910"/>
            <a:ext cx="7336314" cy="1292662"/>
          </a:xfrm>
          <a:prstGeom prst="rect">
            <a:avLst/>
          </a:prstGeom>
          <a:noFill/>
        </p:spPr>
        <p:txBody>
          <a:bodyPr wrap="square" rtlCol="0">
            <a:spAutoFit/>
          </a:bodyPr>
          <a:lstStyle/>
          <a:p>
            <a:pPr marL="0" marR="0" lvl="0" indent="0" algn="just" defTabSz="1218529" rtl="0" eaLnBrk="1" fontAlgn="base" latinLnBrk="0" hangingPunct="1">
              <a:lnSpc>
                <a:spcPct val="100000"/>
              </a:lnSpc>
              <a:spcBef>
                <a:spcPct val="20000"/>
              </a:spcBef>
              <a:spcAft>
                <a:spcPct val="0"/>
              </a:spcAft>
              <a:buClrTx/>
              <a:buSzTx/>
              <a:buFont typeface="Arial" charset="0"/>
              <a:buNone/>
              <a:tabLst/>
              <a:defRPr/>
            </a:pPr>
            <a:r>
              <a:rPr kumimoji="0" lang="en-US" sz="1400" b="1" i="0" u="none" strike="noStrike" kern="1200" cap="none" spc="0" normalizeH="0" baseline="0" noProof="0">
                <a:ln>
                  <a:noFill/>
                </a:ln>
                <a:solidFill>
                  <a:srgbClr val="5A5A5A"/>
                </a:solidFill>
                <a:effectLst/>
                <a:uLnTx/>
                <a:uFillTx/>
                <a:latin typeface="Calibri" panose="020F0502020204030204" pitchFamily="34" charset="0"/>
                <a:ea typeface="+mn-ea"/>
                <a:cs typeface="Calibri" panose="020F0502020204030204" pitchFamily="34" charset="0"/>
              </a:rPr>
              <a:t>Important Confidentiality Notice</a:t>
            </a:r>
          </a:p>
          <a:p>
            <a:pPr marL="0" marR="0" lvl="0" indent="0" algn="just" defTabSz="914400" rtl="0" eaLnBrk="1" fontAlgn="auto" latinLnBrk="0" hangingPunct="1">
              <a:lnSpc>
                <a:spcPct val="100000"/>
              </a:lnSpc>
              <a:spcBef>
                <a:spcPct val="20000"/>
              </a:spcBef>
              <a:spcAft>
                <a:spcPts val="0"/>
              </a:spcAft>
              <a:buClrTx/>
              <a:buSzTx/>
              <a:buFont typeface="Arial" charset="0"/>
              <a:buNone/>
              <a:tabLst/>
              <a:defRPr/>
            </a:pPr>
            <a:r>
              <a:rPr kumimoji="0" lang="en-US" sz="1000" b="0" i="0" u="none" strike="noStrike" kern="1200" cap="none" spc="0" normalizeH="0" baseline="0" noProof="0">
                <a:ln>
                  <a:noFill/>
                </a:ln>
                <a:solidFill>
                  <a:srgbClr val="5A5A5A"/>
                </a:solidFill>
                <a:effectLst/>
                <a:uLnTx/>
                <a:uFillTx/>
                <a:latin typeface="Calibri" panose="020F0502020204030204" pitchFamily="34" charset="0"/>
                <a:ea typeface="ヒラギノ角ゴ Pro W3" charset="0"/>
                <a:cs typeface="Calibri" panose="020F0502020204030204" pitchFamily="34" charset="0"/>
              </a:rPr>
              <a:t>This document is the property of, and is proprietary to Mphasis, and identified as “Confidential”. Those parties to whom it is distributed shall exercise the same degree of custody and care afforded their own such information. It is not to be disclosed, in whole or in part to any third parties, without the express written authorization of Mphasis. It is not to be duplicated or used, in whole or in part, for any purpose other than the evaluation of, and response to, Mphasis’ proposal or bid, or the performance and execution of a contract awarded to Mphasis. This document will be returned to Mphasis upon request.</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5A5A5A"/>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871346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BF562-B650-E43F-6640-8B7B6D1E7BF2}"/>
              </a:ext>
            </a:extLst>
          </p:cNvPr>
          <p:cNvSpPr>
            <a:spLocks noGrp="1"/>
          </p:cNvSpPr>
          <p:nvPr>
            <p:ph type="title"/>
          </p:nvPr>
        </p:nvSpPr>
        <p:spPr>
          <a:xfrm>
            <a:off x="292608" y="202823"/>
            <a:ext cx="9540000" cy="360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F77288-7B3C-C524-27D1-66374FABA00F}"/>
              </a:ext>
            </a:extLst>
          </p:cNvPr>
          <p:cNvSpPr>
            <a:spLocks noGrp="1"/>
          </p:cNvSpPr>
          <p:nvPr>
            <p:ph type="body" idx="1"/>
          </p:nvPr>
        </p:nvSpPr>
        <p:spPr>
          <a:xfrm>
            <a:off x="292608" y="858982"/>
            <a:ext cx="11618976" cy="536632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pic>
        <p:nvPicPr>
          <p:cNvPr id="9" name="Picture 8">
            <a:extLst>
              <a:ext uri="{FF2B5EF4-FFF2-40B4-BE49-F238E27FC236}">
                <a16:creationId xmlns:a16="http://schemas.microsoft.com/office/drawing/2014/main" id="{EF431A82-BFC3-554C-A8A1-AF87B0D8DD57}"/>
              </a:ext>
            </a:extLst>
          </p:cNvPr>
          <p:cNvPicPr>
            <a:picLocks noChangeAspect="1"/>
          </p:cNvPicPr>
          <p:nvPr userDrawn="1"/>
        </p:nvPicPr>
        <p:blipFill>
          <a:blip r:embed="rId5" cstate="email">
            <a:extLst>
              <a:ext uri="{28A0092B-C50C-407E-A947-70E740481C1C}">
                <a14:useLocalDpi xmlns:a14="http://schemas.microsoft.com/office/drawing/2010/main" val="0"/>
              </a:ext>
            </a:extLst>
          </a:blip>
          <a:stretch>
            <a:fillRect/>
          </a:stretch>
        </p:blipFill>
        <p:spPr>
          <a:xfrm>
            <a:off x="11548533" y="6476626"/>
            <a:ext cx="448395" cy="367698"/>
          </a:xfrm>
          <a:prstGeom prst="rect">
            <a:avLst/>
          </a:prstGeom>
        </p:spPr>
      </p:pic>
      <p:sp>
        <p:nvSpPr>
          <p:cNvPr id="14" name="Footer Placeholder 4">
            <a:extLst>
              <a:ext uri="{FF2B5EF4-FFF2-40B4-BE49-F238E27FC236}">
                <a16:creationId xmlns:a16="http://schemas.microsoft.com/office/drawing/2014/main" id="{02BE612D-CAD0-B2F6-FE03-8B620D5FB3D3}"/>
              </a:ext>
            </a:extLst>
          </p:cNvPr>
          <p:cNvSpPr txBox="1">
            <a:spLocks/>
          </p:cNvSpPr>
          <p:nvPr userDrawn="1"/>
        </p:nvSpPr>
        <p:spPr>
          <a:xfrm>
            <a:off x="292608" y="6625852"/>
            <a:ext cx="3207974"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a:latin typeface="+mn-lt"/>
              </a:rPr>
              <a:t>© Mphasis 2025  Proprietary and confidential information</a:t>
            </a:r>
            <a:endParaRPr lang="en-IN" sz="1000">
              <a:latin typeface="+mn-lt"/>
            </a:endParaRPr>
          </a:p>
        </p:txBody>
      </p:sp>
      <p:sp>
        <p:nvSpPr>
          <p:cNvPr id="5" name="Footer Placeholder 4">
            <a:extLst>
              <a:ext uri="{FF2B5EF4-FFF2-40B4-BE49-F238E27FC236}">
                <a16:creationId xmlns:a16="http://schemas.microsoft.com/office/drawing/2014/main" id="{30D85B22-4AB0-59BC-D67E-01DB098B8FB7}"/>
              </a:ext>
            </a:extLst>
          </p:cNvPr>
          <p:cNvSpPr txBox="1">
            <a:spLocks/>
          </p:cNvSpPr>
          <p:nvPr userDrawn="1"/>
        </p:nvSpPr>
        <p:spPr>
          <a:xfrm>
            <a:off x="5593889" y="6625852"/>
            <a:ext cx="1004223" cy="153888"/>
          </a:xfrm>
          <a:prstGeom prst="rect">
            <a:avLst/>
          </a:prstGeom>
        </p:spPr>
        <p:txBody>
          <a:bodyPr vert="horz" lIns="0" tIns="0" rIns="0" bIns="0" rtlCol="0" anchor="ctr">
            <a:spAutoFit/>
          </a:bodyPr>
          <a:lstStyle>
            <a:defPPr>
              <a:defRPr lang="en-US"/>
            </a:defPPr>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83C4C312-C9D8-434F-B375-261D124326DB}" type="datetime1">
              <a:rPr lang="en-IN" sz="1000" smtClean="0">
                <a:latin typeface="+mn-lt"/>
              </a:rPr>
              <a:pPr algn="ctr"/>
              <a:t>05-06-2026</a:t>
            </a:fld>
            <a:endParaRPr lang="en-IN" sz="1000">
              <a:latin typeface="+mn-lt"/>
            </a:endParaRPr>
          </a:p>
        </p:txBody>
      </p:sp>
      <p:sp>
        <p:nvSpPr>
          <p:cNvPr id="10" name="TextBox 9">
            <a:extLst>
              <a:ext uri="{FF2B5EF4-FFF2-40B4-BE49-F238E27FC236}">
                <a16:creationId xmlns:a16="http://schemas.microsoft.com/office/drawing/2014/main" id="{AB3C4B5D-DBD4-6BB5-0873-20A1C577D40D}"/>
              </a:ext>
            </a:extLst>
          </p:cNvPr>
          <p:cNvSpPr txBox="1"/>
          <p:nvPr userDrawn="1"/>
        </p:nvSpPr>
        <p:spPr>
          <a:xfrm>
            <a:off x="10597911" y="6625852"/>
            <a:ext cx="733425" cy="153888"/>
          </a:xfrm>
          <a:prstGeom prst="rect">
            <a:avLst/>
          </a:prstGeom>
          <a:noFill/>
        </p:spPr>
        <p:txBody>
          <a:bodyPr wrap="square" lIns="0" tIns="0" rIns="0" bIns="0" anchor="ctr">
            <a:spAutoFit/>
          </a:bodyPr>
          <a:lstStyle/>
          <a:p>
            <a:pPr algn="r"/>
            <a:fld id="{168B8272-985F-49F0-9308-1DD0A25D397C}" type="slidenum">
              <a:rPr lang="en-IN" sz="1000" smtClean="0">
                <a:latin typeface="+mn-lt"/>
              </a:rPr>
              <a:pPr algn="r"/>
              <a:t>‹#›</a:t>
            </a:fld>
            <a:endParaRPr lang="en-IN" sz="1000">
              <a:latin typeface="+mn-lt"/>
            </a:endParaRPr>
          </a:p>
        </p:txBody>
      </p:sp>
      <p:pic>
        <p:nvPicPr>
          <p:cNvPr id="4" name="Picture 3">
            <a:extLst>
              <a:ext uri="{FF2B5EF4-FFF2-40B4-BE49-F238E27FC236}">
                <a16:creationId xmlns:a16="http://schemas.microsoft.com/office/drawing/2014/main" id="{AF2BF047-EEFD-C7DF-DAD9-55A4CA959E92}"/>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10998200" y="258197"/>
            <a:ext cx="1044617" cy="347352"/>
          </a:xfrm>
          <a:prstGeom prst="rect">
            <a:avLst/>
          </a:prstGeom>
        </p:spPr>
      </p:pic>
    </p:spTree>
    <p:extLst>
      <p:ext uri="{BB962C8B-B14F-4D97-AF65-F5344CB8AC3E}">
        <p14:creationId xmlns:p14="http://schemas.microsoft.com/office/powerpoint/2010/main" val="2937941435"/>
      </p:ext>
    </p:extLst>
  </p:cSld>
  <p:clrMap bg1="lt1" tx1="dk1" bg2="lt2" tx2="dk2" accent1="accent1" accent2="accent2" accent3="accent3" accent4="accent4" accent5="accent5" accent6="accent6" hlink="hlink" folHlink="folHlink"/>
  <p:sldLayoutIdLst>
    <p:sldLayoutId id="2147484864" r:id="rId1"/>
    <p:sldLayoutId id="2147484838" r:id="rId2"/>
    <p:sldLayoutId id="2147484874" r:id="rId3"/>
  </p:sldLayoutIdLst>
  <p:hf hdr="0"/>
  <p:txStyles>
    <p:titleStyle>
      <a:lvl1pPr algn="l" defTabSz="914400" rtl="0" eaLnBrk="1" latinLnBrk="0" hangingPunct="1">
        <a:lnSpc>
          <a:spcPct val="90000"/>
        </a:lnSpc>
        <a:spcBef>
          <a:spcPct val="0"/>
        </a:spcBef>
        <a:buNone/>
        <a:defRPr sz="2200" b="1" kern="1200">
          <a:solidFill>
            <a:schemeClr val="bg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40">
          <p15:clr>
            <a:srgbClr val="F26B43"/>
          </p15:clr>
        </p15:guide>
        <p15:guide id="3" orient="horz" pos="5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customXml" Target="../ink/ink7.xml"/><Relationship Id="rId1" Type="http://schemas.openxmlformats.org/officeDocument/2006/relationships/slideLayout" Target="../slideLayouts/slideLayout1.xml"/><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8.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376C9AA-77B8-1C8C-122B-AB2BE111AE0C}"/>
              </a:ext>
            </a:extLst>
          </p:cNvPr>
          <p:cNvSpPr>
            <a:spLocks noGrp="1"/>
          </p:cNvSpPr>
          <p:nvPr>
            <p:ph type="subTitle" idx="1"/>
          </p:nvPr>
        </p:nvSpPr>
        <p:spPr>
          <a:xfrm>
            <a:off x="498744" y="4128192"/>
            <a:ext cx="6968856" cy="424732"/>
          </a:xfrm>
        </p:spPr>
        <p:txBody>
          <a:bodyPr/>
          <a:lstStyle/>
          <a:p>
            <a:r>
              <a:rPr lang="en-US" altLang="en-US" sz="2400">
                <a:latin typeface="Times New Roman" panose="02020603050405020304" pitchFamily="18" charset="0"/>
                <a:cs typeface="Times New Roman" panose="02020603050405020304" pitchFamily="18" charset="0"/>
              </a:rPr>
              <a:t>(Stock In vs Stock Out)</a:t>
            </a:r>
            <a:endParaRPr lang="en-US" sz="2400"/>
          </a:p>
        </p:txBody>
      </p:sp>
      <p:sp>
        <p:nvSpPr>
          <p:cNvPr id="4" name="Rectangle 1">
            <a:extLst>
              <a:ext uri="{FF2B5EF4-FFF2-40B4-BE49-F238E27FC236}">
                <a16:creationId xmlns:a16="http://schemas.microsoft.com/office/drawing/2014/main" id="{3D6C01B9-208F-6B73-B694-0288D95F8918}"/>
              </a:ext>
            </a:extLst>
          </p:cNvPr>
          <p:cNvSpPr>
            <a:spLocks noGrp="1" noChangeArrowheads="1"/>
          </p:cNvSpPr>
          <p:nvPr>
            <p:ph type="ctrTitle"/>
          </p:nvPr>
        </p:nvSpPr>
        <p:spPr bwMode="auto">
          <a:xfrm>
            <a:off x="498475" y="3385058"/>
            <a:ext cx="636103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i="0" u="none" strike="noStrike" cap="none" normalizeH="0" baseline="0">
                <a:ln>
                  <a:noFill/>
                </a:ln>
                <a:effectLst/>
                <a:latin typeface="Times New Roman" panose="02020603050405020304" pitchFamily="18" charset="0"/>
                <a:cs typeface="Times New Roman" panose="02020603050405020304" pitchFamily="18" charset="0"/>
              </a:rPr>
              <a:t>Inventory Reconciliation Mini‑App</a:t>
            </a:r>
          </a:p>
        </p:txBody>
      </p:sp>
    </p:spTree>
    <p:extLst>
      <p:ext uri="{BB962C8B-B14F-4D97-AF65-F5344CB8AC3E}">
        <p14:creationId xmlns:p14="http://schemas.microsoft.com/office/powerpoint/2010/main" val="4059062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B8954A-EBBE-D05A-DF8E-21DA4FD5A2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05FCF4-7C88-292D-34C6-995BF273DB57}"/>
              </a:ext>
            </a:extLst>
          </p:cNvPr>
          <p:cNvSpPr>
            <a:spLocks noGrp="1"/>
          </p:cNvSpPr>
          <p:nvPr>
            <p:ph type="title"/>
          </p:nvPr>
        </p:nvSpPr>
        <p:spPr>
          <a:xfrm>
            <a:off x="280417" y="178684"/>
            <a:ext cx="7407188" cy="369332"/>
          </a:xfrm>
        </p:spPr>
        <p:txBody>
          <a:bodyPr anchor="ctr">
            <a:normAutofit fontScale="90000"/>
          </a:bodyPr>
          <a:lstStyle/>
          <a:p>
            <a:r>
              <a:rPr lang="en-US">
                <a:latin typeface="Aptos"/>
              </a:rPr>
              <a:t>Team Introduction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4CDE83-B73B-E256-C66F-14EEF95E1A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4CDE83-B73B-E256-C66F-14EEF95E1A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D29A173C-4B49-4244-A905-E73548E2D2BB}"/>
              </a:ext>
            </a:extLst>
          </p:cNvPr>
          <p:cNvGraphicFramePr>
            <a:graphicFrameLocks noGrp="1"/>
          </p:cNvGraphicFramePr>
          <p:nvPr>
            <p:extLst>
              <p:ext uri="{D42A27DB-BD31-4B8C-83A1-F6EECF244321}">
                <p14:modId xmlns:p14="http://schemas.microsoft.com/office/powerpoint/2010/main" val="1885814054"/>
              </p:ext>
            </p:extLst>
          </p:nvPr>
        </p:nvGraphicFramePr>
        <p:xfrm>
          <a:off x="1652270" y="1171575"/>
          <a:ext cx="8411210" cy="4039053"/>
        </p:xfrm>
        <a:graphic>
          <a:graphicData uri="http://schemas.openxmlformats.org/drawingml/2006/table">
            <a:tbl>
              <a:tblPr firstRow="1" bandRow="1">
                <a:tableStyleId>{5C22544A-7EE6-4342-B048-85BDC9FD1C3A}</a:tableStyleId>
              </a:tblPr>
              <a:tblGrid>
                <a:gridCol w="3778250">
                  <a:extLst>
                    <a:ext uri="{9D8B030D-6E8A-4147-A177-3AD203B41FA5}">
                      <a16:colId xmlns:a16="http://schemas.microsoft.com/office/drawing/2014/main" val="3420260581"/>
                    </a:ext>
                  </a:extLst>
                </a:gridCol>
                <a:gridCol w="4632960">
                  <a:extLst>
                    <a:ext uri="{9D8B030D-6E8A-4147-A177-3AD203B41FA5}">
                      <a16:colId xmlns:a16="http://schemas.microsoft.com/office/drawing/2014/main" val="910197492"/>
                    </a:ext>
                  </a:extLst>
                </a:gridCol>
              </a:tblGrid>
              <a:tr h="730599">
                <a:tc>
                  <a:txBody>
                    <a:bodyPr/>
                    <a:lstStyle/>
                    <a:p>
                      <a:pPr algn="ctr"/>
                      <a:r>
                        <a:rPr lang="en-US" sz="2000"/>
                        <a:t>Areas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5947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Team Name:</a:t>
                      </a:r>
                    </a:p>
                  </a:txBody>
                  <a:tcPr/>
                </a:tc>
                <a:tc>
                  <a:txBody>
                    <a:bodyPr/>
                    <a:lstStyle/>
                    <a:p>
                      <a:r>
                        <a:rPr lang="en-US"/>
                        <a:t>Inventory Reconciliation Team</a:t>
                      </a:r>
                    </a:p>
                  </a:txBody>
                  <a:tcPr/>
                </a:tc>
                <a:extLst>
                  <a:ext uri="{0D108BD9-81ED-4DB2-BD59-A6C34878D82A}">
                    <a16:rowId xmlns:a16="http://schemas.microsoft.com/office/drawing/2014/main" val="2694735506"/>
                  </a:ext>
                </a:extLst>
              </a:tr>
              <a:tr h="573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Batch / Area of Training:</a:t>
                      </a:r>
                    </a:p>
                  </a:txBody>
                  <a:tcPr/>
                </a:tc>
                <a:tc>
                  <a:txBody>
                    <a:bodyPr/>
                    <a:lstStyle/>
                    <a:p>
                      <a:r>
                        <a:rPr lang="en-US"/>
                        <a:t>Development</a:t>
                      </a:r>
                    </a:p>
                  </a:txBody>
                  <a:tcPr/>
                </a:tc>
                <a:extLst>
                  <a:ext uri="{0D108BD9-81ED-4DB2-BD59-A6C34878D82A}">
                    <a16:rowId xmlns:a16="http://schemas.microsoft.com/office/drawing/2014/main" val="2766325250"/>
                  </a:ext>
                </a:extLst>
              </a:tr>
              <a:tr h="6117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Internship Start Date:</a:t>
                      </a:r>
                    </a:p>
                  </a:txBody>
                  <a:tcPr/>
                </a:tc>
                <a:tc>
                  <a:txBody>
                    <a:bodyPr/>
                    <a:lstStyle/>
                    <a:p>
                      <a:r>
                        <a:rPr lang="en-US"/>
                        <a:t>17</a:t>
                      </a:r>
                      <a:r>
                        <a:rPr lang="en-US" baseline="30000"/>
                        <a:t>th</a:t>
                      </a:r>
                      <a:r>
                        <a:rPr lang="en-US"/>
                        <a:t> March 2026</a:t>
                      </a:r>
                    </a:p>
                  </a:txBody>
                  <a:tcPr/>
                </a:tc>
                <a:extLst>
                  <a:ext uri="{0D108BD9-81ED-4DB2-BD59-A6C34878D82A}">
                    <a16:rowId xmlns:a16="http://schemas.microsoft.com/office/drawing/2014/main" val="672518870"/>
                  </a:ext>
                </a:extLst>
              </a:tr>
              <a:tr h="49702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Internship Location</a:t>
                      </a:r>
                    </a:p>
                  </a:txBody>
                  <a:tcPr/>
                </a:tc>
                <a:tc>
                  <a:txBody>
                    <a:bodyPr/>
                    <a:lstStyle/>
                    <a:p>
                      <a:r>
                        <a:rPr lang="en-IN" sz="1800" b="0" i="0" kern="1200" err="1">
                          <a:solidFill>
                            <a:schemeClr val="dk1"/>
                          </a:solidFill>
                          <a:effectLst/>
                          <a:latin typeface="+mn-lt"/>
                          <a:ea typeface="+mn-ea"/>
                          <a:cs typeface="+mn-cs"/>
                        </a:rPr>
                        <a:t>Bangalore_SEZ</a:t>
                      </a:r>
                      <a:r>
                        <a:rPr lang="en-IN" sz="1800" b="0" i="0" kern="1200">
                          <a:solidFill>
                            <a:schemeClr val="dk1"/>
                          </a:solidFill>
                          <a:effectLst/>
                          <a:latin typeface="+mn-lt"/>
                          <a:ea typeface="+mn-ea"/>
                          <a:cs typeface="+mn-cs"/>
                        </a:rPr>
                        <a:t> Tower F, 4 Floor</a:t>
                      </a:r>
                      <a:endParaRPr lang="en-US"/>
                    </a:p>
                  </a:txBody>
                  <a:tcPr/>
                </a:tc>
                <a:extLst>
                  <a:ext uri="{0D108BD9-81ED-4DB2-BD59-A6C34878D82A}">
                    <a16:rowId xmlns:a16="http://schemas.microsoft.com/office/drawing/2014/main" val="2430104585"/>
                  </a:ext>
                </a:extLst>
              </a:tr>
              <a:tr h="10314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Team Members: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a:p>
                  </a:txBody>
                  <a:tcPr/>
                </a:tc>
                <a:tc>
                  <a:txBody>
                    <a:bodyPr/>
                    <a:lstStyle/>
                    <a:p>
                      <a:r>
                        <a:rPr lang="en-US" err="1"/>
                        <a:t>Thutukuri</a:t>
                      </a:r>
                      <a:r>
                        <a:rPr lang="en-US"/>
                        <a:t> Jagadeesh &amp; Varshith R S</a:t>
                      </a:r>
                    </a:p>
                  </a:txBody>
                  <a:tcPr/>
                </a:tc>
                <a:extLst>
                  <a:ext uri="{0D108BD9-81ED-4DB2-BD59-A6C34878D82A}">
                    <a16:rowId xmlns:a16="http://schemas.microsoft.com/office/drawing/2014/main" val="4083918607"/>
                  </a:ext>
                </a:extLst>
              </a:tr>
            </a:tbl>
          </a:graphicData>
        </a:graphic>
      </p:graphicFrame>
    </p:spTree>
    <p:extLst>
      <p:ext uri="{BB962C8B-B14F-4D97-AF65-F5344CB8AC3E}">
        <p14:creationId xmlns:p14="http://schemas.microsoft.com/office/powerpoint/2010/main" val="3851768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14B8E-226E-048B-2C14-8ECF099901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5BBBE7-16E5-1F6E-93BF-FEA4AD68F1F8}"/>
              </a:ext>
            </a:extLst>
          </p:cNvPr>
          <p:cNvSpPr>
            <a:spLocks noGrp="1"/>
          </p:cNvSpPr>
          <p:nvPr>
            <p:ph type="title"/>
          </p:nvPr>
        </p:nvSpPr>
        <p:spPr>
          <a:xfrm>
            <a:off x="280417" y="178684"/>
            <a:ext cx="7407188" cy="369332"/>
          </a:xfrm>
        </p:spPr>
        <p:txBody>
          <a:bodyPr anchor="ctr">
            <a:normAutofit fontScale="90000"/>
          </a:bodyPr>
          <a:lstStyle/>
          <a:p>
            <a:r>
              <a:rPr lang="en-US">
                <a:latin typeface="Aptos"/>
              </a:rPr>
              <a:t>Problem Statement </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436398B3-6BF4-A7EF-D278-8B142193616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436398B3-6BF4-A7EF-D278-8B1421936160}"/>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C8BDAAFD-FE0C-ABDE-0DC4-5EA01E602537}"/>
              </a:ext>
            </a:extLst>
          </p:cNvPr>
          <p:cNvGraphicFramePr>
            <a:graphicFrameLocks noGrp="1"/>
          </p:cNvGraphicFramePr>
          <p:nvPr>
            <p:extLst>
              <p:ext uri="{D42A27DB-BD31-4B8C-83A1-F6EECF244321}">
                <p14:modId xmlns:p14="http://schemas.microsoft.com/office/powerpoint/2010/main" val="2496341479"/>
              </p:ext>
            </p:extLst>
          </p:nvPr>
        </p:nvGraphicFramePr>
        <p:xfrm>
          <a:off x="751006" y="789576"/>
          <a:ext cx="10433717" cy="5493365"/>
        </p:xfrm>
        <a:graphic>
          <a:graphicData uri="http://schemas.openxmlformats.org/drawingml/2006/table">
            <a:tbl>
              <a:tblPr firstRow="1" bandRow="1">
                <a:tableStyleId>{5C22544A-7EE6-4342-B048-85BDC9FD1C3A}</a:tableStyleId>
              </a:tblPr>
              <a:tblGrid>
                <a:gridCol w="4671727">
                  <a:extLst>
                    <a:ext uri="{9D8B030D-6E8A-4147-A177-3AD203B41FA5}">
                      <a16:colId xmlns:a16="http://schemas.microsoft.com/office/drawing/2014/main" val="3420260581"/>
                    </a:ext>
                  </a:extLst>
                </a:gridCol>
                <a:gridCol w="5761990">
                  <a:extLst>
                    <a:ext uri="{9D8B030D-6E8A-4147-A177-3AD203B41FA5}">
                      <a16:colId xmlns:a16="http://schemas.microsoft.com/office/drawing/2014/main" val="910197492"/>
                    </a:ext>
                  </a:extLst>
                </a:gridCol>
              </a:tblGrid>
              <a:tr h="60527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11798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problem are you trying to solve?</a:t>
                      </a:r>
                    </a:p>
                  </a:txBody>
                  <a:tcPr/>
                </a:tc>
                <a:tc>
                  <a:txBody>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IN" b="0" i="0">
                          <a:effectLst/>
                          <a:latin typeface="+mn-lt"/>
                        </a:rPr>
                        <a:t>I am solving the issue of frequent mismatches between stock‑in and stock‑out records. Manual checking is slow and error‑prone. The app automates reconciliation to ensure accuracy and speed.</a:t>
                      </a:r>
                    </a:p>
                    <a:p>
                      <a:pPr fontAlgn="t">
                        <a:lnSpc>
                          <a:spcPts val="1500"/>
                        </a:lnSpc>
                        <a:buNone/>
                      </a:pPr>
                      <a:endParaRPr lang="en-IN" b="0" i="0">
                        <a:effectLst/>
                        <a:latin typeface="+mn-lt"/>
                      </a:endParaRPr>
                    </a:p>
                  </a:txBody>
                  <a:tcPr/>
                </a:tc>
                <a:extLst>
                  <a:ext uri="{0D108BD9-81ED-4DB2-BD59-A6C34878D82A}">
                    <a16:rowId xmlns:a16="http://schemas.microsoft.com/office/drawing/2014/main" val="2694735506"/>
                  </a:ext>
                </a:extLst>
              </a:tr>
              <a:tr h="968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define the identified business need and importance to business</a:t>
                      </a:r>
                    </a:p>
                  </a:txBody>
                  <a:tcPr/>
                </a:tc>
                <a:tc>
                  <a:txBody>
                    <a:bodyPr/>
                    <a:lstStyle/>
                    <a:p>
                      <a:pPr fontAlgn="t">
                        <a:lnSpc>
                          <a:spcPts val="1500"/>
                        </a:lnSpc>
                        <a:buNone/>
                      </a:pPr>
                      <a:r>
                        <a:rPr lang="en-IN" b="0" i="0">
                          <a:effectLst/>
                          <a:latin typeface="+mn-lt"/>
                        </a:rPr>
                        <a:t>Businesses need reliable inventory data to avoid losses and operational delays. Automating reconciliation reduces human errors. It provides faster, more correct visibility of daily stock movement.</a:t>
                      </a:r>
                    </a:p>
                  </a:txBody>
                  <a:tcPr/>
                </a:tc>
                <a:extLst>
                  <a:ext uri="{0D108BD9-81ED-4DB2-BD59-A6C34878D82A}">
                    <a16:rowId xmlns:a16="http://schemas.microsoft.com/office/drawing/2014/main" val="2766325250"/>
                  </a:ext>
                </a:extLst>
              </a:tr>
              <a:tr h="101306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Who is affected by this problem? What improvements are assumed to be brought by implementation?</a:t>
                      </a:r>
                    </a:p>
                  </a:txBody>
                  <a:tcPr/>
                </a:tc>
                <a:tc>
                  <a:txBody>
                    <a:bodyPr/>
                    <a:lstStyle/>
                    <a:p>
                      <a:pPr fontAlgn="t">
                        <a:lnSpc>
                          <a:spcPts val="1500"/>
                        </a:lnSpc>
                        <a:buNone/>
                      </a:pPr>
                      <a:r>
                        <a:rPr lang="en-IN" b="0" i="0">
                          <a:effectLst/>
                          <a:latin typeface="+mn-lt"/>
                        </a:rPr>
                        <a:t>Warehouse teams, inventory managers, and finance teams rely on correct stock data. The solution reduces manual effort and highlights mismatches instantly. It improves operational efficiency and decision‑making.</a:t>
                      </a:r>
                    </a:p>
                  </a:txBody>
                  <a:tcPr/>
                </a:tc>
                <a:extLst>
                  <a:ext uri="{0D108BD9-81ED-4DB2-BD59-A6C34878D82A}">
                    <a16:rowId xmlns:a16="http://schemas.microsoft.com/office/drawing/2014/main" val="672518870"/>
                  </a:ext>
                </a:extLst>
              </a:tr>
              <a:tr h="757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made you choose this problem?</a:t>
                      </a:r>
                    </a:p>
                  </a:txBody>
                  <a:tcPr/>
                </a:tc>
                <a:tc>
                  <a:txBody>
                    <a:bodyPr/>
                    <a:lstStyle/>
                    <a:p>
                      <a:pPr fontAlgn="t">
                        <a:lnSpc>
                          <a:spcPts val="1500"/>
                        </a:lnSpc>
                        <a:buNone/>
                      </a:pPr>
                      <a:r>
                        <a:rPr lang="en-IN" b="0" i="0">
                          <a:effectLst/>
                          <a:latin typeface="+mn-lt"/>
                        </a:rPr>
                        <a:t>Inventory mismatch is a common real‑world challenge across industries. This project provides practical skills in automation, data processing, and dashboards.</a:t>
                      </a:r>
                    </a:p>
                  </a:txBody>
                  <a:tcPr/>
                </a:tc>
                <a:extLst>
                  <a:ext uri="{0D108BD9-81ED-4DB2-BD59-A6C34878D82A}">
                    <a16:rowId xmlns:a16="http://schemas.microsoft.com/office/drawing/2014/main" val="2430104585"/>
                  </a:ext>
                </a:extLst>
              </a:tr>
              <a:tr h="96874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any market research conducted help frame the problem.</a:t>
                      </a:r>
                    </a:p>
                  </a:txBody>
                  <a:tcPr/>
                </a:tc>
                <a:tc>
                  <a:txBody>
                    <a:bodyPr/>
                    <a:lstStyle/>
                    <a:p>
                      <a:pPr fontAlgn="t">
                        <a:lnSpc>
                          <a:spcPts val="1500"/>
                        </a:lnSpc>
                        <a:buNone/>
                      </a:pPr>
                      <a:r>
                        <a:rPr lang="en-IN" b="0" i="0">
                          <a:effectLst/>
                          <a:latin typeface="+mn-lt"/>
                        </a:rPr>
                        <a:t>Many companies still use Excel for daily stock tracking. Research shows manual reconciliation leads to errors and delays. Automation tools are becoming essential for exact inventory management.</a:t>
                      </a:r>
                    </a:p>
                  </a:txBody>
                  <a:tcPr/>
                </a:tc>
                <a:extLst>
                  <a:ext uri="{0D108BD9-81ED-4DB2-BD59-A6C34878D82A}">
                    <a16:rowId xmlns:a16="http://schemas.microsoft.com/office/drawing/2014/main" val="3224983629"/>
                  </a:ext>
                </a:extLst>
              </a:tr>
            </a:tbl>
          </a:graphicData>
        </a:graphic>
      </p:graphicFrame>
    </p:spTree>
    <p:extLst>
      <p:ext uri="{BB962C8B-B14F-4D97-AF65-F5344CB8AC3E}">
        <p14:creationId xmlns:p14="http://schemas.microsoft.com/office/powerpoint/2010/main" val="27749639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5FD33-FFB9-A713-3833-1CF6A517AF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AFC14-66DD-CE63-FFE3-6DD68C7200D0}"/>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Overview/ Idea</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2B8CD7E4-0844-7969-9F9B-531E89A3DDF7}"/>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2B8CD7E4-0844-7969-9F9B-531E89A3DDF7}"/>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40AAA7A3-88DE-A73D-76B4-11EA3DE564F8}"/>
              </a:ext>
            </a:extLst>
          </p:cNvPr>
          <p:cNvGraphicFramePr>
            <a:graphicFrameLocks noGrp="1"/>
          </p:cNvGraphicFramePr>
          <p:nvPr>
            <p:extLst>
              <p:ext uri="{D42A27DB-BD31-4B8C-83A1-F6EECF244321}">
                <p14:modId xmlns:p14="http://schemas.microsoft.com/office/powerpoint/2010/main" val="2093282319"/>
              </p:ext>
            </p:extLst>
          </p:nvPr>
        </p:nvGraphicFramePr>
        <p:xfrm>
          <a:off x="460075" y="546339"/>
          <a:ext cx="10666593" cy="5912247"/>
        </p:xfrm>
        <a:graphic>
          <a:graphicData uri="http://schemas.openxmlformats.org/drawingml/2006/table">
            <a:tbl>
              <a:tblPr firstRow="1" bandRow="1">
                <a:tableStyleId>{5C22544A-7EE6-4342-B048-85BDC9FD1C3A}</a:tableStyleId>
              </a:tblPr>
              <a:tblGrid>
                <a:gridCol w="4571950">
                  <a:extLst>
                    <a:ext uri="{9D8B030D-6E8A-4147-A177-3AD203B41FA5}">
                      <a16:colId xmlns:a16="http://schemas.microsoft.com/office/drawing/2014/main" val="3420260581"/>
                    </a:ext>
                  </a:extLst>
                </a:gridCol>
                <a:gridCol w="6094643">
                  <a:extLst>
                    <a:ext uri="{9D8B030D-6E8A-4147-A177-3AD203B41FA5}">
                      <a16:colId xmlns:a16="http://schemas.microsoft.com/office/drawing/2014/main" val="910197492"/>
                    </a:ext>
                  </a:extLst>
                </a:gridCol>
              </a:tblGrid>
              <a:tr h="402741">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91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provide short description of the solution</a:t>
                      </a:r>
                    </a:p>
                  </a:txBody>
                  <a:tcPr/>
                </a:tc>
                <a:tc>
                  <a:txBody>
                    <a:bodyPr/>
                    <a:lstStyle/>
                    <a:p>
                      <a:pPr marL="0" lvl="0" indent="0" algn="l">
                        <a:lnSpc>
                          <a:spcPct val="100000"/>
                        </a:lnSpc>
                        <a:spcBef>
                          <a:spcPts val="0"/>
                        </a:spcBef>
                        <a:spcAft>
                          <a:spcPts val="0"/>
                        </a:spcAft>
                        <a:buNone/>
                      </a:pPr>
                      <a:r>
                        <a:rPr lang="en-IN" sz="1800" b="0" i="0" u="none" strike="noStrike" noProof="0">
                          <a:effectLst/>
                        </a:rPr>
                        <a:t>A compact web app that automates </a:t>
                      </a:r>
                      <a:r>
                        <a:rPr lang="en-IN" sz="1800" b="1" i="0" u="none" strike="noStrike" noProof="0">
                          <a:effectLst/>
                        </a:rPr>
                        <a:t>stock-in vs. stock-out reconciliation</a:t>
                      </a:r>
                      <a:r>
                        <a:rPr lang="en-IN" sz="1800" b="0" i="0" u="none" strike="noStrike" noProof="0">
                          <a:effectLst/>
                        </a:rPr>
                        <a:t>. It processes CSV data, detects mismatches instantly, and presents clear dashboards. </a:t>
                      </a:r>
                      <a:endParaRPr lang="en-IN"/>
                    </a:p>
                  </a:txBody>
                  <a:tcPr/>
                </a:tc>
                <a:extLst>
                  <a:ext uri="{0D108BD9-81ED-4DB2-BD59-A6C34878D82A}">
                    <a16:rowId xmlns:a16="http://schemas.microsoft.com/office/drawing/2014/main" val="2694735506"/>
                  </a:ext>
                </a:extLst>
              </a:tr>
              <a:tr h="91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are the key objectives you are planning to achieve</a:t>
                      </a:r>
                    </a:p>
                  </a:txBody>
                  <a:tcPr/>
                </a:tc>
                <a:tc>
                  <a:txBody>
                    <a:bodyPr/>
                    <a:lstStyle/>
                    <a:p>
                      <a:pPr marL="0" lvl="0" indent="0" algn="l">
                        <a:lnSpc>
                          <a:spcPct val="100000"/>
                        </a:lnSpc>
                        <a:spcBef>
                          <a:spcPts val="0"/>
                        </a:spcBef>
                        <a:spcAft>
                          <a:spcPts val="0"/>
                        </a:spcAft>
                        <a:buNone/>
                      </a:pPr>
                      <a:r>
                        <a:rPr lang="en-IN" sz="1800" b="0" i="0" u="none" strike="noStrike" noProof="0">
                          <a:effectLst/>
                        </a:rPr>
                        <a:t>Automates reconciliation, reduces manual errors, and provides real-time visibility. Enables quick identification of mismatches and generates clean, exportable reports.</a:t>
                      </a:r>
                      <a:endParaRPr lang="en-IN" sz="1800" u="none" strike="noStrike" noProof="0"/>
                    </a:p>
                  </a:txBody>
                  <a:tcPr/>
                </a:tc>
                <a:extLst>
                  <a:ext uri="{0D108BD9-81ED-4DB2-BD59-A6C34878D82A}">
                    <a16:rowId xmlns:a16="http://schemas.microsoft.com/office/drawing/2014/main" val="2766325250"/>
                  </a:ext>
                </a:extLst>
              </a:tr>
              <a:tr h="91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How does your solution achieve to address the problem statement?</a:t>
                      </a:r>
                    </a:p>
                  </a:txBody>
                  <a:tcPr/>
                </a:tc>
                <a:tc>
                  <a:txBody>
                    <a:bodyPr/>
                    <a:lstStyle/>
                    <a:p>
                      <a:pPr marL="0" lvl="0" indent="0" algn="l">
                        <a:lnSpc>
                          <a:spcPct val="100000"/>
                        </a:lnSpc>
                        <a:spcBef>
                          <a:spcPts val="0"/>
                        </a:spcBef>
                        <a:spcAft>
                          <a:spcPts val="0"/>
                        </a:spcAft>
                        <a:buNone/>
                      </a:pPr>
                      <a:r>
                        <a:rPr lang="en-IN" sz="1800" b="0" i="0" u="none" strike="noStrike" noProof="0">
                          <a:effectLst/>
                        </a:rPr>
                        <a:t> Automates reconciliation, reduces manual errors, and provides real-time visibility. Enables quick identification of mismatches and generates clean, exportable reports.</a:t>
                      </a:r>
                      <a:endParaRPr lang="en-IN"/>
                    </a:p>
                  </a:txBody>
                  <a:tcPr/>
                </a:tc>
                <a:extLst>
                  <a:ext uri="{0D108BD9-81ED-4DB2-BD59-A6C34878D82A}">
                    <a16:rowId xmlns:a16="http://schemas.microsoft.com/office/drawing/2014/main" val="672518870"/>
                  </a:ext>
                </a:extLst>
              </a:tr>
              <a:tr h="91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explain the technology stack selected.</a:t>
                      </a:r>
                    </a:p>
                  </a:txBody>
                  <a:tcPr/>
                </a:tc>
                <a:tc>
                  <a:txBody>
                    <a:bodyPr/>
                    <a:lstStyle/>
                    <a:p>
                      <a:pPr marL="0" lvl="0" indent="0" algn="l">
                        <a:lnSpc>
                          <a:spcPct val="100000"/>
                        </a:lnSpc>
                        <a:spcBef>
                          <a:spcPts val="0"/>
                        </a:spcBef>
                        <a:spcAft>
                          <a:spcPts val="0"/>
                        </a:spcAft>
                        <a:buNone/>
                      </a:pPr>
                      <a:r>
                        <a:rPr lang="en-IN" sz="1800" b="0" i="0" u="none" strike="noStrike" noProof="0">
                          <a:effectLst/>
                        </a:rPr>
                        <a:t>A React + Spring Boot-based mini app that automates stock reconciliation using CSV uploads, backend APIs, and real-time dashboards.</a:t>
                      </a:r>
                    </a:p>
                  </a:txBody>
                  <a:tcPr/>
                </a:tc>
                <a:extLst>
                  <a:ext uri="{0D108BD9-81ED-4DB2-BD59-A6C34878D82A}">
                    <a16:rowId xmlns:a16="http://schemas.microsoft.com/office/drawing/2014/main" val="2430104585"/>
                  </a:ext>
                </a:extLst>
              </a:tr>
              <a:tr h="91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provide justification on why your approach is best.</a:t>
                      </a:r>
                    </a:p>
                  </a:txBody>
                  <a:tcPr/>
                </a:tc>
                <a:tc>
                  <a:txBody>
                    <a:bodyPr/>
                    <a:lstStyle/>
                    <a:p>
                      <a:pPr marL="0" lvl="0" indent="0" algn="l">
                        <a:lnSpc>
                          <a:spcPct val="100000"/>
                        </a:lnSpc>
                        <a:spcBef>
                          <a:spcPts val="0"/>
                        </a:spcBef>
                        <a:spcAft>
                          <a:spcPts val="0"/>
                        </a:spcAft>
                        <a:buNone/>
                      </a:pPr>
                      <a:r>
                        <a:rPr lang="en-IN" sz="1800" b="0" i="0" u="none" strike="noStrike" noProof="0">
                          <a:effectLst/>
                        </a:rPr>
                        <a:t>Fast, simple, accurate, and easy to scale. </a:t>
                      </a:r>
                      <a:endParaRPr lang="en-US"/>
                    </a:p>
                    <a:p>
                      <a:pPr marL="0" lvl="0" indent="0" algn="l">
                        <a:lnSpc>
                          <a:spcPct val="100000"/>
                        </a:lnSpc>
                        <a:spcBef>
                          <a:spcPts val="0"/>
                        </a:spcBef>
                        <a:spcAft>
                          <a:spcPts val="0"/>
                        </a:spcAft>
                        <a:buNone/>
                      </a:pPr>
                      <a:r>
                        <a:rPr lang="en-IN" sz="1800" b="0" i="0" u="none" strike="noStrike" noProof="0">
                          <a:effectLst/>
                        </a:rPr>
                        <a:t>Minimizes manual effort while maximizing clarity through dashboards.</a:t>
                      </a:r>
                      <a:endParaRPr lang="en-IN" sz="1800" u="none" strike="noStrike" noProof="0"/>
                    </a:p>
                  </a:txBody>
                  <a:tcPr/>
                </a:tc>
                <a:extLst>
                  <a:ext uri="{0D108BD9-81ED-4DB2-BD59-A6C34878D82A}">
                    <a16:rowId xmlns:a16="http://schemas.microsoft.com/office/drawing/2014/main" val="3224983629"/>
                  </a:ext>
                </a:extLst>
              </a:tr>
              <a:tr h="91825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What is the state you were able to achieve?</a:t>
                      </a:r>
                    </a:p>
                  </a:txBody>
                  <a:tcPr/>
                </a:tc>
                <a:tc>
                  <a:txBody>
                    <a:bodyPr/>
                    <a:lstStyle/>
                    <a:p>
                      <a:pPr marL="0" lvl="0" indent="0" algn="l">
                        <a:lnSpc>
                          <a:spcPct val="100000"/>
                        </a:lnSpc>
                        <a:spcBef>
                          <a:spcPts val="0"/>
                        </a:spcBef>
                        <a:spcAft>
                          <a:spcPts val="0"/>
                        </a:spcAft>
                        <a:buNone/>
                      </a:pPr>
                      <a:r>
                        <a:rPr lang="en-IN" sz="1800" b="0" i="0" u="none" strike="noStrike" noProof="0">
                          <a:effectLst/>
                        </a:rPr>
                        <a:t>An end-to-end working application with CSV upload, a reconciliation engine, insights, and export features. Fully functional and presentation-ready.</a:t>
                      </a:r>
                      <a:endParaRPr lang="en-IN"/>
                    </a:p>
                  </a:txBody>
                  <a:tcPr/>
                </a:tc>
                <a:extLst>
                  <a:ext uri="{0D108BD9-81ED-4DB2-BD59-A6C34878D82A}">
                    <a16:rowId xmlns:a16="http://schemas.microsoft.com/office/drawing/2014/main" val="2247336996"/>
                  </a:ext>
                </a:extLst>
              </a:tr>
            </a:tbl>
          </a:graphicData>
        </a:graphic>
      </p:graphicFrame>
    </p:spTree>
    <p:extLst>
      <p:ext uri="{BB962C8B-B14F-4D97-AF65-F5344CB8AC3E}">
        <p14:creationId xmlns:p14="http://schemas.microsoft.com/office/powerpoint/2010/main" val="881589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61C68-AFBB-1A2B-5AC3-6919FC6265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863421-089E-B67A-0F28-336EC740178B}"/>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Implementation –High Level Architecture</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2323983-D49B-0E07-0DB0-5C37A2608FCE}"/>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2323983-D49B-0E07-0DB0-5C37A2608FCE}"/>
                  </a:ext>
                </a:extLst>
              </p:cNvPr>
              <p:cNvPicPr/>
              <p:nvPr/>
            </p:nvPicPr>
            <p:blipFill>
              <a:blip r:embed="rId3"/>
              <a:stretch>
                <a:fillRect/>
              </a:stretch>
            </p:blipFill>
            <p:spPr>
              <a:xfrm>
                <a:off x="-2453638" y="1981200"/>
                <a:ext cx="3429000" cy="3429000"/>
              </a:xfrm>
              <a:prstGeom prst="rect">
                <a:avLst/>
              </a:prstGeom>
            </p:spPr>
          </p:pic>
        </mc:Fallback>
      </mc:AlternateContent>
      <p:pic>
        <p:nvPicPr>
          <p:cNvPr id="8" name="Picture 7" descr="A diagram of a data flow&#10;&#10;AI-generated content may be incorrect.">
            <a:extLst>
              <a:ext uri="{FF2B5EF4-FFF2-40B4-BE49-F238E27FC236}">
                <a16:creationId xmlns:a16="http://schemas.microsoft.com/office/drawing/2014/main" id="{E249825D-0803-6A5F-ABDF-3AD4058900E7}"/>
              </a:ext>
            </a:extLst>
          </p:cNvPr>
          <p:cNvPicPr>
            <a:picLocks noChangeAspect="1"/>
          </p:cNvPicPr>
          <p:nvPr/>
        </p:nvPicPr>
        <p:blipFill>
          <a:blip r:embed="rId4"/>
          <a:stretch>
            <a:fillRect/>
          </a:stretch>
        </p:blipFill>
        <p:spPr>
          <a:xfrm>
            <a:off x="1676400" y="514350"/>
            <a:ext cx="8839200" cy="5829300"/>
          </a:xfrm>
          <a:prstGeom prst="rect">
            <a:avLst/>
          </a:prstGeom>
        </p:spPr>
      </p:pic>
    </p:spTree>
    <p:extLst>
      <p:ext uri="{BB962C8B-B14F-4D97-AF65-F5344CB8AC3E}">
        <p14:creationId xmlns:p14="http://schemas.microsoft.com/office/powerpoint/2010/main" val="2912775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D6F55-261C-B83C-C6CC-81B469ABCB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2BF10-B643-2E62-AC2A-4E595BFB3ED4}"/>
              </a:ext>
            </a:extLst>
          </p:cNvPr>
          <p:cNvSpPr>
            <a:spLocks noGrp="1"/>
          </p:cNvSpPr>
          <p:nvPr>
            <p:ph type="title"/>
          </p:nvPr>
        </p:nvSpPr>
        <p:spPr>
          <a:xfrm>
            <a:off x="280417" y="178684"/>
            <a:ext cx="7407188" cy="369332"/>
          </a:xfrm>
        </p:spPr>
        <p:txBody>
          <a:bodyPr anchor="ctr">
            <a:normAutofit fontScale="90000"/>
          </a:bodyPr>
          <a:lstStyle/>
          <a:p>
            <a:r>
              <a:rPr lang="en-US">
                <a:latin typeface="Aptos"/>
              </a:rPr>
              <a:t>Solution Implementation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D5D0EF97-39D7-98FB-9D95-275B26BA9902}"/>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D5D0EF97-39D7-98FB-9D95-275B26BA9902}"/>
                  </a:ext>
                </a:extLst>
              </p:cNvPr>
              <p:cNvPicPr/>
              <p:nvPr/>
            </p:nvPicPr>
            <p:blipFill>
              <a:blip r:embed="rId3"/>
              <a:stretch>
                <a:fillRect/>
              </a:stretch>
            </p:blipFill>
            <p:spPr>
              <a:xfrm>
                <a:off x="-2453638" y="1981200"/>
                <a:ext cx="3429000" cy="3429000"/>
              </a:xfrm>
              <a:prstGeom prst="rect">
                <a:avLst/>
              </a:prstGeom>
            </p:spPr>
          </p:pic>
        </mc:Fallback>
      </mc:AlternateContent>
      <p:sp>
        <p:nvSpPr>
          <p:cNvPr id="5" name="TextBox 4">
            <a:extLst>
              <a:ext uri="{FF2B5EF4-FFF2-40B4-BE49-F238E27FC236}">
                <a16:creationId xmlns:a16="http://schemas.microsoft.com/office/drawing/2014/main" id="{09251E79-46BA-FFE3-42C0-35F80EBC99BC}"/>
              </a:ext>
            </a:extLst>
          </p:cNvPr>
          <p:cNvSpPr txBox="1"/>
          <p:nvPr/>
        </p:nvSpPr>
        <p:spPr>
          <a:xfrm>
            <a:off x="775717" y="1028343"/>
            <a:ext cx="8090152" cy="5078313"/>
          </a:xfrm>
          <a:prstGeom prst="rect">
            <a:avLst/>
          </a:prstGeom>
          <a:noFill/>
        </p:spPr>
        <p:txBody>
          <a:bodyPr wrap="square" lIns="91440" tIns="45720" rIns="91440" bIns="45720" anchor="t">
            <a:spAutoFit/>
          </a:bodyPr>
          <a:lstStyle/>
          <a:p>
            <a:pPr marL="285750" indent="-285750">
              <a:buFont typeface="Wingdings" panose="05000000000000000000" pitchFamily="2" charset="2"/>
              <a:buChar char="v"/>
            </a:pPr>
            <a:r>
              <a:rPr lang="en-US" b="1">
                <a:ea typeface="Calibri"/>
                <a:cs typeface="Calibri"/>
              </a:rPr>
              <a:t>High-level architecture </a:t>
            </a:r>
            <a:endParaRPr lang="en-US"/>
          </a:p>
          <a:p>
            <a:pPr marL="742950" lvl="1" indent="-285750">
              <a:buFont typeface="Arial" panose="020B0604020202020204" pitchFamily="34" charset="0"/>
              <a:buChar char="•"/>
            </a:pPr>
            <a:r>
              <a:rPr lang="en-US">
                <a:ea typeface="Calibri"/>
                <a:cs typeface="Calibri"/>
              </a:rPr>
              <a:t>React UI sends CSV data to Spring Boot APIs -&gt;</a:t>
            </a:r>
            <a:endParaRPr lang="en-US"/>
          </a:p>
          <a:p>
            <a:pPr marL="742950" lvl="1" indent="-285750">
              <a:buFont typeface="Arial" panose="020B0604020202020204" pitchFamily="34" charset="0"/>
              <a:buChar char="•"/>
            </a:pPr>
            <a:r>
              <a:rPr lang="en-US">
                <a:ea typeface="Calibri"/>
                <a:cs typeface="Calibri"/>
              </a:rPr>
              <a:t>Backend processes and reconciles stock –in vs stock –out -&gt;</a:t>
            </a:r>
            <a:endParaRPr lang="en-US"/>
          </a:p>
          <a:p>
            <a:pPr marL="742950" lvl="1" indent="-285750">
              <a:buFont typeface="Arial" panose="020B0604020202020204" pitchFamily="34" charset="0"/>
              <a:buChar char="•"/>
            </a:pPr>
            <a:r>
              <a:rPr lang="en-US">
                <a:ea typeface="Calibri"/>
                <a:cs typeface="Calibri"/>
              </a:rPr>
              <a:t>Result returned to frontend -&gt; displayed through dashboard, tables, and exportable reports.</a:t>
            </a:r>
            <a:endParaRPr lang="en-US"/>
          </a:p>
          <a:p>
            <a:pPr lvl="1"/>
            <a:endParaRPr lang="en-US"/>
          </a:p>
          <a:p>
            <a:pPr marL="285750" indent="-285750">
              <a:buFont typeface="Wingdings" panose="05000000000000000000" pitchFamily="2" charset="2"/>
              <a:buChar char="v"/>
            </a:pPr>
            <a:r>
              <a:rPr lang="en-US" b="1"/>
              <a:t>Major Components / Modules</a:t>
            </a:r>
            <a:endParaRPr lang="en-US" b="1">
              <a:ea typeface="Calibri"/>
              <a:cs typeface="Calibri"/>
            </a:endParaRPr>
          </a:p>
          <a:p>
            <a:pPr marL="742950" lvl="1" indent="-285750">
              <a:buFont typeface="Arial" panose="020B0604020202020204" pitchFamily="34" charset="0"/>
              <a:buChar char="•"/>
            </a:pPr>
            <a:r>
              <a:rPr lang="en-US"/>
              <a:t>CSV Upload &amp; Validation</a:t>
            </a:r>
          </a:p>
          <a:p>
            <a:pPr marL="742950" lvl="1" indent="-285750">
              <a:buFont typeface="Arial" panose="020B0604020202020204" pitchFamily="34" charset="0"/>
              <a:buChar char="•"/>
            </a:pPr>
            <a:r>
              <a:rPr lang="en-US"/>
              <a:t>Reconciliation Engine (IN/OUT matching logic)</a:t>
            </a:r>
          </a:p>
          <a:p>
            <a:pPr marL="742950" lvl="1" indent="-285750">
              <a:buFont typeface="Arial" panose="020B0604020202020204" pitchFamily="34" charset="0"/>
              <a:buChar char="•"/>
            </a:pPr>
            <a:r>
              <a:rPr lang="en-US"/>
              <a:t>Insights Dashboard (KPIs, charts, tables)</a:t>
            </a:r>
          </a:p>
          <a:p>
            <a:pPr marL="742950" lvl="1" indent="-285750">
              <a:buFont typeface="Arial" panose="020B0604020202020204" pitchFamily="34" charset="0"/>
              <a:buChar char="•"/>
            </a:pPr>
            <a:r>
              <a:rPr lang="en-US"/>
              <a:t>Export Module (CSV/PDF)</a:t>
            </a:r>
          </a:p>
          <a:p>
            <a:pPr marL="742950" lvl="1" indent="-285750">
              <a:buFont typeface="Arial" panose="020B0604020202020204" pitchFamily="34" charset="0"/>
              <a:buChar char="•"/>
            </a:pPr>
            <a:r>
              <a:rPr lang="en-US"/>
              <a:t>API Layer connecting React and Spring Boot</a:t>
            </a:r>
          </a:p>
          <a:p>
            <a:endParaRPr lang="en-US"/>
          </a:p>
          <a:p>
            <a:pPr marL="285750" indent="-285750">
              <a:buFont typeface="Wingdings" panose="05000000000000000000" pitchFamily="2" charset="2"/>
              <a:buChar char="v"/>
            </a:pPr>
            <a:r>
              <a:rPr lang="en-US" b="1"/>
              <a:t>Technologies or tools used</a:t>
            </a:r>
          </a:p>
          <a:p>
            <a:pPr marL="742950" lvl="1" indent="-285750">
              <a:buFont typeface="Arial" panose="020B0604020202020204" pitchFamily="34" charset="0"/>
              <a:buChar char="•"/>
            </a:pPr>
            <a:r>
              <a:rPr lang="en-US" b="1"/>
              <a:t>Frontend : </a:t>
            </a:r>
            <a:r>
              <a:rPr lang="en-US"/>
              <a:t>React (UI, Charts, components)</a:t>
            </a:r>
          </a:p>
          <a:p>
            <a:pPr marL="742950" lvl="1" indent="-285750">
              <a:buFont typeface="Arial" panose="020B0604020202020204" pitchFamily="34" charset="0"/>
              <a:buChar char="•"/>
            </a:pPr>
            <a:r>
              <a:rPr lang="en-US" b="1"/>
              <a:t>Backend : </a:t>
            </a:r>
            <a:r>
              <a:rPr lang="en-US"/>
              <a:t>Java Spring Boot (API, logic , CSV processing)</a:t>
            </a:r>
          </a:p>
          <a:p>
            <a:pPr marL="742950" lvl="1" indent="-285750">
              <a:buFont typeface="Arial" panose="020B0604020202020204" pitchFamily="34" charset="0"/>
              <a:buChar char="•"/>
            </a:pPr>
            <a:r>
              <a:rPr lang="en-US" b="1"/>
              <a:t>Data : </a:t>
            </a:r>
            <a:r>
              <a:rPr lang="en-US"/>
              <a:t>CSV files</a:t>
            </a:r>
          </a:p>
          <a:p>
            <a:pPr marL="742950" lvl="1" indent="-285750">
              <a:buFont typeface="Arial" panose="020B0604020202020204" pitchFamily="34" charset="0"/>
              <a:buChar char="•"/>
            </a:pPr>
            <a:r>
              <a:rPr lang="en-US" b="1"/>
              <a:t>Tools : </a:t>
            </a:r>
            <a:r>
              <a:rPr lang="en-US"/>
              <a:t>REST APIs, charting libraries, PDF/CSV export tools</a:t>
            </a:r>
          </a:p>
        </p:txBody>
      </p:sp>
    </p:spTree>
    <p:extLst>
      <p:ext uri="{BB962C8B-B14F-4D97-AF65-F5344CB8AC3E}">
        <p14:creationId xmlns:p14="http://schemas.microsoft.com/office/powerpoint/2010/main" val="1413813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B87CB-4DE1-36F8-8BAD-3E711C54B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89E497-F02D-6921-4201-D66C2B29A4FC}"/>
              </a:ext>
            </a:extLst>
          </p:cNvPr>
          <p:cNvSpPr>
            <a:spLocks noGrp="1"/>
          </p:cNvSpPr>
          <p:nvPr>
            <p:ph type="title"/>
          </p:nvPr>
        </p:nvSpPr>
        <p:spPr>
          <a:xfrm>
            <a:off x="280417" y="178684"/>
            <a:ext cx="7407188" cy="369332"/>
          </a:xfrm>
        </p:spPr>
        <p:txBody>
          <a:bodyPr anchor="ctr">
            <a:normAutofit fontScale="90000"/>
          </a:bodyPr>
          <a:lstStyle/>
          <a:p>
            <a:r>
              <a:rPr lang="en-US">
                <a:latin typeface="Aptos"/>
              </a:rPr>
              <a:t>Three Key Features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AEC76337-F850-1150-322B-7C8C510D0F8D}"/>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AEC76337-F850-1150-322B-7C8C510D0F8D}"/>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BC7DA58D-2973-ECBA-406F-BF94DE1185FC}"/>
              </a:ext>
            </a:extLst>
          </p:cNvPr>
          <p:cNvGraphicFramePr>
            <a:graphicFrameLocks noGrp="1"/>
          </p:cNvGraphicFramePr>
          <p:nvPr>
            <p:extLst>
              <p:ext uri="{D42A27DB-BD31-4B8C-83A1-F6EECF244321}">
                <p14:modId xmlns:p14="http://schemas.microsoft.com/office/powerpoint/2010/main" val="886691554"/>
              </p:ext>
            </p:extLst>
          </p:nvPr>
        </p:nvGraphicFramePr>
        <p:xfrm>
          <a:off x="1230917" y="743296"/>
          <a:ext cx="10048056" cy="5513973"/>
        </p:xfrm>
        <a:graphic>
          <a:graphicData uri="http://schemas.openxmlformats.org/drawingml/2006/table">
            <a:tbl>
              <a:tblPr firstRow="1" bandRow="1">
                <a:tableStyleId>{5C22544A-7EE6-4342-B048-85BDC9FD1C3A}</a:tableStyleId>
              </a:tblPr>
              <a:tblGrid>
                <a:gridCol w="3322471">
                  <a:extLst>
                    <a:ext uri="{9D8B030D-6E8A-4147-A177-3AD203B41FA5}">
                      <a16:colId xmlns:a16="http://schemas.microsoft.com/office/drawing/2014/main" val="3420260581"/>
                    </a:ext>
                  </a:extLst>
                </a:gridCol>
                <a:gridCol w="6725585">
                  <a:extLst>
                    <a:ext uri="{9D8B030D-6E8A-4147-A177-3AD203B41FA5}">
                      <a16:colId xmlns:a16="http://schemas.microsoft.com/office/drawing/2014/main" val="910197492"/>
                    </a:ext>
                  </a:extLst>
                </a:gridCol>
              </a:tblGrid>
              <a:tr h="839928">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1558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Feature1:</a:t>
                      </a:r>
                    </a:p>
                  </a:txBody>
                  <a:tcPr/>
                </a:tc>
                <a:tc>
                  <a:txBody>
                    <a:bodyPr/>
                    <a:lstStyle/>
                    <a:p>
                      <a:r>
                        <a:rPr lang="en-US" b="1"/>
                        <a:t>Name</a:t>
                      </a:r>
                      <a:r>
                        <a:rPr lang="en-US"/>
                        <a:t>: Reconciliation Engine (IN vs OUT Logic)</a:t>
                      </a:r>
                    </a:p>
                    <a:p>
                      <a:r>
                        <a:rPr lang="en-US" b="1"/>
                        <a:t>Business description: </a:t>
                      </a:r>
                      <a:r>
                        <a:rPr lang="en-US" sz="1800" b="0" i="0" u="none" strike="noStrike" noProof="0">
                          <a:latin typeface="Calibri"/>
                          <a:ea typeface="Calibri"/>
                          <a:cs typeface="Calibri"/>
                        </a:rPr>
                        <a:t>Compares incoming and outgoing stock for each SKU to find mismatches and calculate correct inventory.</a:t>
                      </a:r>
                    </a:p>
                    <a:p>
                      <a:r>
                        <a:rPr lang="en-US" b="1"/>
                        <a:t>Achievements : </a:t>
                      </a:r>
                      <a:r>
                        <a:rPr lang="en-US" sz="1800" b="0" i="0" u="none" strike="noStrike" noProof="0">
                          <a:latin typeface="Calibri"/>
                          <a:ea typeface="Calibri"/>
                          <a:cs typeface="Calibri"/>
                        </a:rPr>
                        <a:t>Enabled real-time mismatch detection, improved accuracy, and reduced manual effort.</a:t>
                      </a:r>
                      <a:endParaRPr lang="en-US" sz="1800">
                        <a:latin typeface="Calibri"/>
                        <a:ea typeface="Calibri"/>
                        <a:cs typeface="Calibri"/>
                      </a:endParaRPr>
                    </a:p>
                  </a:txBody>
                  <a:tcPr/>
                </a:tc>
                <a:extLst>
                  <a:ext uri="{0D108BD9-81ED-4DB2-BD59-A6C34878D82A}">
                    <a16:rowId xmlns:a16="http://schemas.microsoft.com/office/drawing/2014/main" val="2694735506"/>
                  </a:ext>
                </a:extLst>
              </a:tr>
              <a:tr h="1558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Feature2:</a:t>
                      </a:r>
                    </a:p>
                  </a:txBody>
                  <a:tcPr/>
                </a:tc>
                <a:tc>
                  <a:txBody>
                    <a:bodyPr/>
                    <a:lstStyle/>
                    <a:p>
                      <a:r>
                        <a:rPr lang="en-US" b="1"/>
                        <a:t>Name</a:t>
                      </a:r>
                      <a:r>
                        <a:rPr lang="en-US"/>
                        <a:t>: </a:t>
                      </a:r>
                      <a:r>
                        <a:rPr lang="en-US" sz="1800" b="0" i="0" u="none" strike="noStrike" noProof="0">
                          <a:latin typeface="Calibri"/>
                          <a:ea typeface="Calibri"/>
                          <a:cs typeface="Calibri"/>
                        </a:rPr>
                        <a:t>Interactive Dashboard &amp; Visualization</a:t>
                      </a:r>
                      <a:endParaRPr lang="en-US" sz="1800">
                        <a:latin typeface="Calibri"/>
                        <a:ea typeface="Calibri"/>
                        <a:cs typeface="Calibri"/>
                      </a:endParaRPr>
                    </a:p>
                    <a:p>
                      <a:r>
                        <a:rPr lang="en-US" b="1"/>
                        <a:t>Business description: </a:t>
                      </a:r>
                      <a:r>
                        <a:rPr lang="en-US" sz="1800" b="0" i="0" u="none" strike="noStrike" noProof="0">
                          <a:latin typeface="Calibri"/>
                          <a:ea typeface="Calibri"/>
                          <a:cs typeface="Calibri"/>
                        </a:rPr>
                        <a:t>Displays reconciliation data using charts (bar, pie) and KPI cards for quick insights.</a:t>
                      </a:r>
                    </a:p>
                    <a:p>
                      <a:r>
                        <a:rPr lang="en-US" b="1"/>
                        <a:t>Achievements</a:t>
                      </a:r>
                      <a:r>
                        <a:rPr lang="en-US"/>
                        <a:t>:</a:t>
                      </a:r>
                      <a:r>
                        <a:rPr lang="en-US" sz="1800">
                          <a:latin typeface="Calibri"/>
                          <a:ea typeface="Calibri"/>
                          <a:cs typeface="Calibri"/>
                        </a:rPr>
                        <a:t> </a:t>
                      </a:r>
                      <a:r>
                        <a:rPr lang="en-US" sz="1800" b="0" i="0" u="none" strike="noStrike" noProof="0">
                          <a:latin typeface="Calibri"/>
                          <a:ea typeface="Calibri"/>
                          <a:cs typeface="Calibri"/>
                        </a:rPr>
                        <a:t>Improved data visibility, enabled fast analysis, and provided clear visual representation of mismatches.</a:t>
                      </a:r>
                    </a:p>
                  </a:txBody>
                  <a:tcPr/>
                </a:tc>
                <a:extLst>
                  <a:ext uri="{0D108BD9-81ED-4DB2-BD59-A6C34878D82A}">
                    <a16:rowId xmlns:a16="http://schemas.microsoft.com/office/drawing/2014/main" val="2766325250"/>
                  </a:ext>
                </a:extLst>
              </a:tr>
              <a:tr h="15580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Please elaborate Feature3:</a:t>
                      </a:r>
                    </a:p>
                  </a:txBody>
                  <a:tcPr/>
                </a:tc>
                <a:tc>
                  <a:txBody>
                    <a:bodyPr/>
                    <a:lstStyle/>
                    <a:p>
                      <a:r>
                        <a:rPr lang="en-US" b="1"/>
                        <a:t>Name</a:t>
                      </a:r>
                      <a:r>
                        <a:rPr lang="en-US"/>
                        <a:t>: </a:t>
                      </a:r>
                      <a:r>
                        <a:rPr lang="en-US" sz="1800" b="0" i="0" u="none" strike="noStrike" noProof="0">
                          <a:latin typeface="Calibri"/>
                          <a:ea typeface="Calibri"/>
                          <a:cs typeface="Calibri"/>
                        </a:rPr>
                        <a:t>CSV Upload &amp; Reporting System</a:t>
                      </a:r>
                      <a:endParaRPr lang="en-US" sz="1800">
                        <a:latin typeface="Calibri"/>
                        <a:ea typeface="Calibri"/>
                        <a:cs typeface="Calibri"/>
                      </a:endParaRPr>
                    </a:p>
                    <a:p>
                      <a:r>
                        <a:rPr lang="en-US" b="1"/>
                        <a:t>Business description</a:t>
                      </a:r>
                      <a:r>
                        <a:rPr lang="en-US"/>
                        <a:t>:</a:t>
                      </a:r>
                      <a:r>
                        <a:rPr lang="en-US" sz="1800">
                          <a:latin typeface="Calibri"/>
                          <a:ea typeface="Calibri"/>
                          <a:cs typeface="Calibri"/>
                        </a:rPr>
                        <a:t> </a:t>
                      </a:r>
                      <a:r>
                        <a:rPr lang="en-US" sz="1800" b="0" i="0" u="none" strike="noStrike" noProof="0">
                          <a:latin typeface="Calibri"/>
                          <a:ea typeface="Calibri"/>
                          <a:cs typeface="Calibri"/>
                        </a:rPr>
                        <a:t>Allows users to upload CSV files and generate reconciliation reports in CSV and PDF formats.</a:t>
                      </a:r>
                    </a:p>
                    <a:p>
                      <a:r>
                        <a:rPr lang="en-US" b="1"/>
                        <a:t>Achievements</a:t>
                      </a:r>
                      <a:r>
                        <a:rPr lang="en-US"/>
                        <a:t>: </a:t>
                      </a:r>
                      <a:r>
                        <a:rPr lang="en-US" sz="1800" b="0" i="0" u="none" strike="noStrike" noProof="0">
                          <a:latin typeface="Calibri"/>
                          <a:ea typeface="Calibri"/>
                          <a:cs typeface="Calibri"/>
                        </a:rPr>
                        <a:t>Automated data processing, avoided duplication with date-based logic, and enabled easy report sharing.</a:t>
                      </a:r>
                    </a:p>
                  </a:txBody>
                  <a:tcPr/>
                </a:tc>
                <a:extLst>
                  <a:ext uri="{0D108BD9-81ED-4DB2-BD59-A6C34878D82A}">
                    <a16:rowId xmlns:a16="http://schemas.microsoft.com/office/drawing/2014/main" val="672518870"/>
                  </a:ext>
                </a:extLst>
              </a:tr>
            </a:tbl>
          </a:graphicData>
        </a:graphic>
      </p:graphicFrame>
    </p:spTree>
    <p:extLst>
      <p:ext uri="{BB962C8B-B14F-4D97-AF65-F5344CB8AC3E}">
        <p14:creationId xmlns:p14="http://schemas.microsoft.com/office/powerpoint/2010/main" val="4102230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28D98-1538-EB7B-B626-52AB2B5CAE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09C7E0-41CC-249F-2880-C94DB221C3E6}"/>
              </a:ext>
            </a:extLst>
          </p:cNvPr>
          <p:cNvSpPr>
            <a:spLocks noGrp="1"/>
          </p:cNvSpPr>
          <p:nvPr>
            <p:ph type="title"/>
          </p:nvPr>
        </p:nvSpPr>
        <p:spPr>
          <a:xfrm>
            <a:off x="280417" y="178684"/>
            <a:ext cx="7407188" cy="369332"/>
          </a:xfrm>
        </p:spPr>
        <p:txBody>
          <a:bodyPr anchor="ctr">
            <a:normAutofit fontScale="90000"/>
          </a:bodyPr>
          <a:lstStyle/>
          <a:p>
            <a:r>
              <a:rPr lang="en-US">
                <a:latin typeface="Aptos"/>
              </a:rPr>
              <a:t>Demo Video With Explanation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7AA07F-066E-4914-46E7-27FFF51CE8E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677AA07F-066E-4914-46E7-27FFF51CE8E0}"/>
                  </a:ext>
                </a:extLst>
              </p:cNvPr>
              <p:cNvPicPr/>
              <p:nvPr/>
            </p:nvPicPr>
            <p:blipFill>
              <a:blip r:embed="rId5"/>
              <a:stretch>
                <a:fillRect/>
              </a:stretch>
            </p:blipFill>
            <p:spPr>
              <a:xfrm>
                <a:off x="-2453638" y="1981200"/>
                <a:ext cx="3429000" cy="3429000"/>
              </a:xfrm>
              <a:prstGeom prst="rect">
                <a:avLst/>
              </a:prstGeom>
            </p:spPr>
          </p:pic>
        </mc:Fallback>
      </mc:AlternateContent>
    </p:spTree>
    <p:extLst>
      <p:ext uri="{BB962C8B-B14F-4D97-AF65-F5344CB8AC3E}">
        <p14:creationId xmlns:p14="http://schemas.microsoft.com/office/powerpoint/2010/main" val="2719100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3ABC1-7876-0C30-DB6B-AEB2E73DD5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F16D1E-B7B7-B58A-68D8-2BC760E6E332}"/>
              </a:ext>
            </a:extLst>
          </p:cNvPr>
          <p:cNvSpPr>
            <a:spLocks noGrp="1"/>
          </p:cNvSpPr>
          <p:nvPr>
            <p:ph type="title"/>
          </p:nvPr>
        </p:nvSpPr>
        <p:spPr>
          <a:xfrm>
            <a:off x="610200" y="365256"/>
            <a:ext cx="2207951" cy="369332"/>
          </a:xfrm>
        </p:spPr>
        <p:txBody>
          <a:bodyPr anchor="ctr">
            <a:normAutofit fontScale="90000"/>
          </a:bodyPr>
          <a:lstStyle/>
          <a:p>
            <a:r>
              <a:rPr lang="en-US">
                <a:latin typeface="Aptos"/>
              </a:rPr>
              <a:t>Screenshots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07FEDA4-8C91-E377-C591-CE25107E6CC0}"/>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907FEDA4-8C91-E377-C591-CE25107E6CC0}"/>
                  </a:ext>
                </a:extLst>
              </p:cNvPr>
              <p:cNvPicPr/>
              <p:nvPr/>
            </p:nvPicPr>
            <p:blipFill>
              <a:blip r:embed="rId3"/>
              <a:stretch>
                <a:fillRect/>
              </a:stretch>
            </p:blipFill>
            <p:spPr>
              <a:xfrm>
                <a:off x="-2453638" y="1981200"/>
                <a:ext cx="3429000" cy="3429000"/>
              </a:xfrm>
              <a:prstGeom prst="rect">
                <a:avLst/>
              </a:prstGeom>
            </p:spPr>
          </p:pic>
        </mc:Fallback>
      </mc:AlternateContent>
      <p:pic>
        <p:nvPicPr>
          <p:cNvPr id="5" name="Picture 4">
            <a:extLst>
              <a:ext uri="{FF2B5EF4-FFF2-40B4-BE49-F238E27FC236}">
                <a16:creationId xmlns:a16="http://schemas.microsoft.com/office/drawing/2014/main" id="{384CFA89-9B35-1886-07DE-F64D290516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341" y="871748"/>
            <a:ext cx="5678083" cy="405396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 name="Picture 6">
            <a:extLst>
              <a:ext uri="{FF2B5EF4-FFF2-40B4-BE49-F238E27FC236}">
                <a16:creationId xmlns:a16="http://schemas.microsoft.com/office/drawing/2014/main" id="{FE556FF8-BA03-E5D5-180F-D1CB16E7059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40838" y="871748"/>
            <a:ext cx="5533462" cy="40561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9" name="TextBox 8">
            <a:extLst>
              <a:ext uri="{FF2B5EF4-FFF2-40B4-BE49-F238E27FC236}">
                <a16:creationId xmlns:a16="http://schemas.microsoft.com/office/drawing/2014/main" id="{150C9714-2F99-1CFE-ED5D-3F3DFBBC5927}"/>
              </a:ext>
            </a:extLst>
          </p:cNvPr>
          <p:cNvSpPr txBox="1"/>
          <p:nvPr/>
        </p:nvSpPr>
        <p:spPr>
          <a:xfrm>
            <a:off x="418341" y="5098190"/>
            <a:ext cx="5677659" cy="1491705"/>
          </a:xfrm>
          <a:prstGeom prst="rect">
            <a:avLst/>
          </a:prstGeom>
          <a:noFill/>
        </p:spPr>
        <p:txBody>
          <a:bodyPr wrap="square">
            <a:spAutoFit/>
          </a:bodyPr>
          <a:lstStyle/>
          <a:p>
            <a:pPr algn="just">
              <a:buNone/>
            </a:pPr>
            <a:r>
              <a:rPr lang="en-IN" b="1"/>
              <a:t>Image 1 – CSV Upload and Reconciliation Execution</a:t>
            </a:r>
          </a:p>
          <a:p>
            <a:pPr algn="just">
              <a:buNone/>
            </a:pPr>
            <a:r>
              <a:rPr lang="en-IN"/>
              <a:t>This screen allows users to upload the inventory transaction CSV file and select a reconciliation date. After clicking the </a:t>
            </a:r>
            <a:r>
              <a:rPr lang="en-IN" b="1"/>
              <a:t>Run</a:t>
            </a:r>
            <a:r>
              <a:rPr lang="en-IN"/>
              <a:t> button, the system processes the uploaded data and performs inventory reconciliation.</a:t>
            </a:r>
          </a:p>
        </p:txBody>
      </p:sp>
      <p:sp>
        <p:nvSpPr>
          <p:cNvPr id="11" name="TextBox 10">
            <a:extLst>
              <a:ext uri="{FF2B5EF4-FFF2-40B4-BE49-F238E27FC236}">
                <a16:creationId xmlns:a16="http://schemas.microsoft.com/office/drawing/2014/main" id="{12DC0202-1000-376E-7340-3AB06F827F6E}"/>
              </a:ext>
            </a:extLst>
          </p:cNvPr>
          <p:cNvSpPr txBox="1"/>
          <p:nvPr/>
        </p:nvSpPr>
        <p:spPr>
          <a:xfrm>
            <a:off x="6268952" y="5100474"/>
            <a:ext cx="5677235" cy="1477328"/>
          </a:xfrm>
          <a:prstGeom prst="rect">
            <a:avLst/>
          </a:prstGeom>
          <a:noFill/>
        </p:spPr>
        <p:txBody>
          <a:bodyPr wrap="square" lIns="91440" tIns="45720" rIns="91440" bIns="45720" anchor="t">
            <a:spAutoFit/>
          </a:bodyPr>
          <a:lstStyle/>
          <a:p>
            <a:pPr algn="just">
              <a:buNone/>
            </a:pPr>
            <a:r>
              <a:rPr lang="en-IN" b="1"/>
              <a:t>Image 2 – Summary KPIs and Visual Insights</a:t>
            </a:r>
          </a:p>
          <a:p>
            <a:pPr algn="just">
              <a:buNone/>
            </a:pPr>
            <a:r>
              <a:rPr lang="en-IN"/>
              <a:t>This dashboard displays key performance indicators such as </a:t>
            </a:r>
            <a:r>
              <a:rPr lang="en-IN" b="1"/>
              <a:t>Total IN, Total OUT, and Mismatch Count</a:t>
            </a:r>
            <a:r>
              <a:rPr lang="en-IN"/>
              <a:t>. The bar chart provides a visual comparison of stock inflow and outflow for each SKU to find discrepancies quickly.</a:t>
            </a:r>
            <a:endParaRPr lang="en-IN">
              <a:ea typeface="Calibri"/>
              <a:cs typeface="Calibri"/>
            </a:endParaRPr>
          </a:p>
        </p:txBody>
      </p:sp>
    </p:spTree>
    <p:extLst>
      <p:ext uri="{BB962C8B-B14F-4D97-AF65-F5344CB8AC3E}">
        <p14:creationId xmlns:p14="http://schemas.microsoft.com/office/powerpoint/2010/main" val="1308530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9A8DC-6C70-27EE-3C6D-37F5C88FF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B59DBF-10A0-487C-027A-C7A3F0C0B926}"/>
              </a:ext>
            </a:extLst>
          </p:cNvPr>
          <p:cNvSpPr>
            <a:spLocks noGrp="1"/>
          </p:cNvSpPr>
          <p:nvPr>
            <p:ph type="title"/>
          </p:nvPr>
        </p:nvSpPr>
        <p:spPr>
          <a:xfrm>
            <a:off x="760101" y="198256"/>
            <a:ext cx="2207951" cy="369332"/>
          </a:xfrm>
        </p:spPr>
        <p:txBody>
          <a:bodyPr anchor="ctr">
            <a:normAutofit fontScale="90000"/>
          </a:bodyPr>
          <a:lstStyle/>
          <a:p>
            <a:r>
              <a:rPr lang="en-US">
                <a:latin typeface="Aptos"/>
              </a:rPr>
              <a:t>Screenshots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24D3595-49F6-F4FD-6A2D-B5DC74E4194D}"/>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724D3595-49F6-F4FD-6A2D-B5DC74E4194D}"/>
                  </a:ext>
                </a:extLst>
              </p:cNvPr>
              <p:cNvPicPr/>
              <p:nvPr/>
            </p:nvPicPr>
            <p:blipFill>
              <a:blip r:embed="rId3"/>
              <a:stretch>
                <a:fillRect/>
              </a:stretch>
            </p:blipFill>
            <p:spPr>
              <a:xfrm>
                <a:off x="-2453638" y="1981200"/>
                <a:ext cx="3429000" cy="3429000"/>
              </a:xfrm>
              <a:prstGeom prst="rect">
                <a:avLst/>
              </a:prstGeom>
            </p:spPr>
          </p:pic>
        </mc:Fallback>
      </mc:AlternateContent>
      <p:pic>
        <p:nvPicPr>
          <p:cNvPr id="6" name="Picture 5">
            <a:extLst>
              <a:ext uri="{FF2B5EF4-FFF2-40B4-BE49-F238E27FC236}">
                <a16:creationId xmlns:a16="http://schemas.microsoft.com/office/drawing/2014/main" id="{DAA05721-6450-5BD4-EF88-B7F95CBF5006}"/>
              </a:ext>
            </a:extLst>
          </p:cNvPr>
          <p:cNvPicPr>
            <a:picLocks noChangeAspect="1"/>
          </p:cNvPicPr>
          <p:nvPr/>
        </p:nvPicPr>
        <p:blipFill>
          <a:blip r:embed="rId4">
            <a:extLst>
              <a:ext uri="{28A0092B-C50C-407E-A947-70E740481C1C}">
                <a14:useLocalDpi xmlns:a14="http://schemas.microsoft.com/office/drawing/2010/main" val="0"/>
              </a:ext>
            </a:extLst>
          </a:blip>
          <a:srcRect l="12726" t="7775" r="11614" b="9473"/>
          <a:stretch>
            <a:fillRect/>
          </a:stretch>
        </p:blipFill>
        <p:spPr>
          <a:xfrm>
            <a:off x="233473" y="734588"/>
            <a:ext cx="3927700" cy="32952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Picture 8">
            <a:extLst>
              <a:ext uri="{FF2B5EF4-FFF2-40B4-BE49-F238E27FC236}">
                <a16:creationId xmlns:a16="http://schemas.microsoft.com/office/drawing/2014/main" id="{11EE7128-D62E-0D33-D70F-224DD5885A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78508" y="734588"/>
            <a:ext cx="7550338" cy="448995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4D25A410-FDC1-EE3C-C51E-A30A7A9CB16A}"/>
              </a:ext>
            </a:extLst>
          </p:cNvPr>
          <p:cNvSpPr txBox="1"/>
          <p:nvPr/>
        </p:nvSpPr>
        <p:spPr>
          <a:xfrm>
            <a:off x="233473" y="4196812"/>
            <a:ext cx="3927700" cy="1754326"/>
          </a:xfrm>
          <a:prstGeom prst="rect">
            <a:avLst/>
          </a:prstGeom>
          <a:noFill/>
        </p:spPr>
        <p:txBody>
          <a:bodyPr wrap="square">
            <a:spAutoFit/>
          </a:bodyPr>
          <a:lstStyle/>
          <a:p>
            <a:pPr>
              <a:buNone/>
            </a:pPr>
            <a:r>
              <a:rPr lang="en-IN" b="1"/>
              <a:t>Image 3 – Match vs Mismatch Analysis</a:t>
            </a:r>
          </a:p>
          <a:p>
            <a:pPr algn="just">
              <a:buNone/>
            </a:pPr>
            <a:r>
              <a:rPr lang="en-IN"/>
              <a:t>The pie chart presents the overall percentage distribution of matched and mismatched inventory records. It helps users understand reconciliation accuracy at a glance.</a:t>
            </a:r>
          </a:p>
        </p:txBody>
      </p:sp>
      <p:sp>
        <p:nvSpPr>
          <p:cNvPr id="13" name="TextBox 12">
            <a:extLst>
              <a:ext uri="{FF2B5EF4-FFF2-40B4-BE49-F238E27FC236}">
                <a16:creationId xmlns:a16="http://schemas.microsoft.com/office/drawing/2014/main" id="{B4F510DB-7494-FCEA-D046-6BE4216CDFA5}"/>
              </a:ext>
            </a:extLst>
          </p:cNvPr>
          <p:cNvSpPr txBox="1"/>
          <p:nvPr/>
        </p:nvSpPr>
        <p:spPr>
          <a:xfrm>
            <a:off x="4708962" y="5224543"/>
            <a:ext cx="7109085" cy="1200329"/>
          </a:xfrm>
          <a:prstGeom prst="rect">
            <a:avLst/>
          </a:prstGeom>
          <a:noFill/>
        </p:spPr>
        <p:txBody>
          <a:bodyPr wrap="square">
            <a:spAutoFit/>
          </a:bodyPr>
          <a:lstStyle/>
          <a:p>
            <a:pPr>
              <a:buNone/>
            </a:pPr>
            <a:r>
              <a:rPr lang="en-IN" b="1"/>
              <a:t>Image 4 – Complete Reconciliation Report</a:t>
            </a:r>
          </a:p>
          <a:p>
            <a:pPr algn="just">
              <a:buNone/>
            </a:pPr>
            <a:r>
              <a:rPr lang="en-IN"/>
              <a:t>This table shows detailed reconciliation results for all SKUs, including stock IN, stock OUT, net quantity, status, and mismatch reasons. Users can also export the report in </a:t>
            </a:r>
            <a:r>
              <a:rPr lang="en-IN" b="1"/>
              <a:t>CSV</a:t>
            </a:r>
            <a:r>
              <a:rPr lang="en-IN"/>
              <a:t> or </a:t>
            </a:r>
            <a:r>
              <a:rPr lang="en-IN" b="1"/>
              <a:t>PDF</a:t>
            </a:r>
            <a:r>
              <a:rPr lang="en-IN"/>
              <a:t> format.</a:t>
            </a:r>
          </a:p>
        </p:txBody>
      </p:sp>
    </p:spTree>
    <p:extLst>
      <p:ext uri="{BB962C8B-B14F-4D97-AF65-F5344CB8AC3E}">
        <p14:creationId xmlns:p14="http://schemas.microsoft.com/office/powerpoint/2010/main" val="3331977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E84FD-8833-6B83-5128-6077A309FD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3D72E0-39E4-4607-A117-BA042B12D98A}"/>
              </a:ext>
            </a:extLst>
          </p:cNvPr>
          <p:cNvSpPr>
            <a:spLocks noGrp="1"/>
          </p:cNvSpPr>
          <p:nvPr>
            <p:ph type="title"/>
          </p:nvPr>
        </p:nvSpPr>
        <p:spPr>
          <a:xfrm>
            <a:off x="610200" y="365256"/>
            <a:ext cx="2207951" cy="369332"/>
          </a:xfrm>
        </p:spPr>
        <p:txBody>
          <a:bodyPr anchor="ctr">
            <a:normAutofit fontScale="90000"/>
          </a:bodyPr>
          <a:lstStyle/>
          <a:p>
            <a:r>
              <a:rPr lang="en-US">
                <a:latin typeface="Aptos"/>
              </a:rPr>
              <a:t>Screenshots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C8E9EC10-D3FD-1AC7-3D14-8A7A5C2D3C13}"/>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C8E9EC10-D3FD-1AC7-3D14-8A7A5C2D3C13}"/>
                  </a:ext>
                </a:extLst>
              </p:cNvPr>
              <p:cNvPicPr/>
              <p:nvPr/>
            </p:nvPicPr>
            <p:blipFill>
              <a:blip r:embed="rId3"/>
              <a:stretch>
                <a:fillRect/>
              </a:stretch>
            </p:blipFill>
            <p:spPr>
              <a:xfrm>
                <a:off x="-2453638" y="1981200"/>
                <a:ext cx="3429000" cy="3429000"/>
              </a:xfrm>
              <a:prstGeom prst="rect">
                <a:avLst/>
              </a:prstGeom>
            </p:spPr>
          </p:pic>
        </mc:Fallback>
      </mc:AlternateContent>
      <p:pic>
        <p:nvPicPr>
          <p:cNvPr id="5" name="Picture 4">
            <a:extLst>
              <a:ext uri="{FF2B5EF4-FFF2-40B4-BE49-F238E27FC236}">
                <a16:creationId xmlns:a16="http://schemas.microsoft.com/office/drawing/2014/main" id="{CAC4AF3B-269C-3C7C-4CB2-BE6DC12EB1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3312" y="1002631"/>
            <a:ext cx="5633097" cy="3910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Picture 7">
            <a:extLst>
              <a:ext uri="{FF2B5EF4-FFF2-40B4-BE49-F238E27FC236}">
                <a16:creationId xmlns:a16="http://schemas.microsoft.com/office/drawing/2014/main" id="{716FAEE3-80A7-5481-B9EC-3EB8ABCC9F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36106" y="1002631"/>
            <a:ext cx="6112582" cy="39100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1" name="TextBox 10">
            <a:extLst>
              <a:ext uri="{FF2B5EF4-FFF2-40B4-BE49-F238E27FC236}">
                <a16:creationId xmlns:a16="http://schemas.microsoft.com/office/drawing/2014/main" id="{676484C6-704B-0EFE-1A62-1C5EE868FE4F}"/>
              </a:ext>
            </a:extLst>
          </p:cNvPr>
          <p:cNvSpPr txBox="1"/>
          <p:nvPr/>
        </p:nvSpPr>
        <p:spPr>
          <a:xfrm>
            <a:off x="143311" y="5015416"/>
            <a:ext cx="5633097" cy="1477328"/>
          </a:xfrm>
          <a:prstGeom prst="rect">
            <a:avLst/>
          </a:prstGeom>
          <a:noFill/>
        </p:spPr>
        <p:txBody>
          <a:bodyPr wrap="square">
            <a:spAutoFit/>
          </a:bodyPr>
          <a:lstStyle/>
          <a:p>
            <a:pPr>
              <a:buNone/>
            </a:pPr>
            <a:r>
              <a:rPr lang="en-IN" b="1"/>
              <a:t>Image 5 – Mismatch-Only View</a:t>
            </a:r>
          </a:p>
          <a:p>
            <a:pPr algn="just">
              <a:buNone/>
            </a:pPr>
            <a:r>
              <a:rPr lang="en-IN"/>
              <a:t>This filtered report displays only the SKUs with reconciliation issues, making it easier to focus on inventory discrepancies. The mismatch reason column helps identify the cause of each exception.</a:t>
            </a:r>
          </a:p>
        </p:txBody>
      </p:sp>
      <p:sp>
        <p:nvSpPr>
          <p:cNvPr id="13" name="TextBox 12">
            <a:extLst>
              <a:ext uri="{FF2B5EF4-FFF2-40B4-BE49-F238E27FC236}">
                <a16:creationId xmlns:a16="http://schemas.microsoft.com/office/drawing/2014/main" id="{10157823-3CFE-33B5-0818-21DACCA682F5}"/>
              </a:ext>
            </a:extLst>
          </p:cNvPr>
          <p:cNvSpPr txBox="1"/>
          <p:nvPr/>
        </p:nvSpPr>
        <p:spPr>
          <a:xfrm>
            <a:off x="5856257" y="5015416"/>
            <a:ext cx="6272280" cy="1477328"/>
          </a:xfrm>
          <a:prstGeom prst="rect">
            <a:avLst/>
          </a:prstGeom>
          <a:noFill/>
        </p:spPr>
        <p:txBody>
          <a:bodyPr wrap="square">
            <a:spAutoFit/>
          </a:bodyPr>
          <a:lstStyle/>
          <a:p>
            <a:pPr>
              <a:buNone/>
            </a:pPr>
            <a:r>
              <a:rPr lang="en-IN" b="1"/>
              <a:t>Image 6 – No Data Available Notification</a:t>
            </a:r>
          </a:p>
          <a:p>
            <a:pPr algn="just">
              <a:buNone/>
            </a:pPr>
            <a:r>
              <a:rPr lang="en-IN"/>
              <a:t>This screen appears when the selected date has no corresponding inventory records in the uploaded dataset. The system notifies the user and prevents reconciliation for unavailable data.</a:t>
            </a:r>
          </a:p>
        </p:txBody>
      </p:sp>
    </p:spTree>
    <p:extLst>
      <p:ext uri="{BB962C8B-B14F-4D97-AF65-F5344CB8AC3E}">
        <p14:creationId xmlns:p14="http://schemas.microsoft.com/office/powerpoint/2010/main" val="46489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3E1C1B-B772-3770-5515-726B1AC913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456EB-B09F-4E99-E55D-8EB4D6EC1BB3}"/>
              </a:ext>
            </a:extLst>
          </p:cNvPr>
          <p:cNvSpPr>
            <a:spLocks noGrp="1"/>
          </p:cNvSpPr>
          <p:nvPr>
            <p:ph type="title"/>
          </p:nvPr>
        </p:nvSpPr>
        <p:spPr>
          <a:xfrm>
            <a:off x="280417" y="178684"/>
            <a:ext cx="7407188" cy="369332"/>
          </a:xfrm>
        </p:spPr>
        <p:txBody>
          <a:bodyPr anchor="ctr">
            <a:normAutofit fontScale="90000"/>
          </a:bodyPr>
          <a:lstStyle/>
          <a:p>
            <a:r>
              <a:rPr lang="en-US">
                <a:latin typeface="Aptos"/>
              </a:rPr>
              <a:t>Outcomes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10B378C-EC97-8216-C222-FECCF4799B23}"/>
                  </a:ext>
                </a:extLst>
              </p14:cNvPr>
              <p14:cNvContentPartPr/>
              <p14:nvPr/>
            </p14:nvContentPartPr>
            <p14:xfrm>
              <a:off x="-739138" y="3695700"/>
              <a:ext cx="34290" cy="34290"/>
            </p14:xfrm>
          </p:contentPart>
        </mc:Choice>
        <mc:Fallback xmlns="">
          <p:pic>
            <p:nvPicPr>
              <p:cNvPr id="3" name="Ink 2">
                <a:extLst>
                  <a:ext uri="{FF2B5EF4-FFF2-40B4-BE49-F238E27FC236}">
                    <a16:creationId xmlns:a16="http://schemas.microsoft.com/office/drawing/2014/main" id="{710B378C-EC97-8216-C222-FECCF4799B23}"/>
                  </a:ext>
                </a:extLst>
              </p:cNvPr>
              <p:cNvPicPr/>
              <p:nvPr/>
            </p:nvPicPr>
            <p:blipFill>
              <a:blip r:embed="rId3"/>
              <a:stretch>
                <a:fillRect/>
              </a:stretch>
            </p:blipFill>
            <p:spPr>
              <a:xfrm>
                <a:off x="-2453638" y="1981200"/>
                <a:ext cx="3429000" cy="3429000"/>
              </a:xfrm>
              <a:prstGeom prst="rect">
                <a:avLst/>
              </a:prstGeom>
            </p:spPr>
          </p:pic>
        </mc:Fallback>
      </mc:AlternateContent>
      <p:graphicFrame>
        <p:nvGraphicFramePr>
          <p:cNvPr id="6" name="Table 5">
            <a:extLst>
              <a:ext uri="{FF2B5EF4-FFF2-40B4-BE49-F238E27FC236}">
                <a16:creationId xmlns:a16="http://schemas.microsoft.com/office/drawing/2014/main" id="{977D0765-E910-8684-4AA9-3210FD5B4B3E}"/>
              </a:ext>
            </a:extLst>
          </p:cNvPr>
          <p:cNvGraphicFramePr>
            <a:graphicFrameLocks noGrp="1"/>
          </p:cNvGraphicFramePr>
          <p:nvPr>
            <p:extLst>
              <p:ext uri="{D42A27DB-BD31-4B8C-83A1-F6EECF244321}">
                <p14:modId xmlns:p14="http://schemas.microsoft.com/office/powerpoint/2010/main" val="2086129945"/>
              </p:ext>
            </p:extLst>
          </p:nvPr>
        </p:nvGraphicFramePr>
        <p:xfrm>
          <a:off x="1380226" y="891396"/>
          <a:ext cx="9437610" cy="5245100"/>
        </p:xfrm>
        <a:graphic>
          <a:graphicData uri="http://schemas.openxmlformats.org/drawingml/2006/table">
            <a:tbl>
              <a:tblPr firstRow="1" bandRow="1">
                <a:tableStyleId>{5C22544A-7EE6-4342-B048-85BDC9FD1C3A}</a:tableStyleId>
              </a:tblPr>
              <a:tblGrid>
                <a:gridCol w="4399611">
                  <a:extLst>
                    <a:ext uri="{9D8B030D-6E8A-4147-A177-3AD203B41FA5}">
                      <a16:colId xmlns:a16="http://schemas.microsoft.com/office/drawing/2014/main" val="3420260581"/>
                    </a:ext>
                  </a:extLst>
                </a:gridCol>
                <a:gridCol w="5037999">
                  <a:extLst>
                    <a:ext uri="{9D8B030D-6E8A-4147-A177-3AD203B41FA5}">
                      <a16:colId xmlns:a16="http://schemas.microsoft.com/office/drawing/2014/main" val="910197492"/>
                    </a:ext>
                  </a:extLst>
                </a:gridCol>
              </a:tblGrid>
              <a:tr h="764540">
                <a:tc>
                  <a:txBody>
                    <a:bodyPr/>
                    <a:lstStyle/>
                    <a:p>
                      <a:pPr algn="ctr"/>
                      <a:r>
                        <a:rPr lang="en-US" sz="2000"/>
                        <a:t>Questions</a:t>
                      </a:r>
                    </a:p>
                  </a:txBody>
                  <a:tcPr anchor="ctr"/>
                </a:tc>
                <a:tc>
                  <a:txBody>
                    <a:bodyPr/>
                    <a:lstStyle/>
                    <a:p>
                      <a:pPr algn="ctr"/>
                      <a:r>
                        <a:rPr lang="en-US" sz="2000"/>
                        <a:t>Answers</a:t>
                      </a:r>
                    </a:p>
                  </a:txBody>
                  <a:tcPr anchor="ctr"/>
                </a:tc>
                <a:extLst>
                  <a:ext uri="{0D108BD9-81ED-4DB2-BD59-A6C34878D82A}">
                    <a16:rowId xmlns:a16="http://schemas.microsoft.com/office/drawing/2014/main" val="895895187"/>
                  </a:ext>
                </a:extLst>
              </a:tr>
              <a:tr h="645160">
                <a:tc>
                  <a:txBody>
                    <a:bodyPr/>
                    <a:lstStyle/>
                    <a:p>
                      <a:pPr marL="0" indent="0">
                        <a:buFont typeface="Arial" panose="020B0604020202020204" pitchFamily="34" charset="0"/>
                        <a:buNone/>
                      </a:pPr>
                      <a:r>
                        <a:rPr lang="en-US"/>
                        <a:t>Business impact</a:t>
                      </a:r>
                    </a:p>
                  </a:txBody>
                  <a:tcPr/>
                </a:tc>
                <a:tc>
                  <a:txBody>
                    <a:bodyPr/>
                    <a:lstStyle/>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Improved inventory accuracy and reduced manual reconciliation</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Enabled faster detection of stock mismatches</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Supported better operational decision-making</a:t>
                      </a:r>
                      <a:endParaRPr lang="en-US" sz="1800">
                        <a:latin typeface="Calibri"/>
                        <a:ea typeface="Calibri"/>
                        <a:cs typeface="Calibri"/>
                      </a:endParaRPr>
                    </a:p>
                  </a:txBody>
                  <a:tcPr/>
                </a:tc>
                <a:extLst>
                  <a:ext uri="{0D108BD9-81ED-4DB2-BD59-A6C34878D82A}">
                    <a16:rowId xmlns:a16="http://schemas.microsoft.com/office/drawing/2014/main" val="2694735506"/>
                  </a:ext>
                </a:extLst>
              </a:tr>
              <a:tr h="770890">
                <a:tc>
                  <a:txBody>
                    <a:bodyPr/>
                    <a:lstStyle/>
                    <a:p>
                      <a:pPr marL="0" indent="0">
                        <a:buFont typeface="Arial" panose="020B0604020202020204" pitchFamily="34" charset="0"/>
                        <a:buNone/>
                      </a:pPr>
                      <a:r>
                        <a:rPr lang="en-US"/>
                        <a:t>Achieved Technical benefits</a:t>
                      </a:r>
                    </a:p>
                  </a:txBody>
                  <a:tcPr/>
                </a:tc>
                <a:tc>
                  <a:txBody>
                    <a:bodyPr/>
                    <a:lstStyle/>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Automated data processing using CSV ingestion</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Real-time reconciliation using backend logic</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Interactive dashboard with charts and KPIs</a:t>
                      </a:r>
                      <a:endParaRPr lang="en-US" sz="1800">
                        <a:latin typeface="Calibri"/>
                        <a:ea typeface="Calibri"/>
                        <a:cs typeface="Calibri"/>
                      </a:endParaRPr>
                    </a:p>
                  </a:txBody>
                  <a:tcPr/>
                </a:tc>
                <a:extLst>
                  <a:ext uri="{0D108BD9-81ED-4DB2-BD59-A6C34878D82A}">
                    <a16:rowId xmlns:a16="http://schemas.microsoft.com/office/drawing/2014/main" val="2766325250"/>
                  </a:ext>
                </a:extLst>
              </a:tr>
              <a:tr h="770890">
                <a:tc>
                  <a:txBody>
                    <a:bodyPr/>
                    <a:lstStyle/>
                    <a:p>
                      <a:pPr marL="0" indent="0">
                        <a:buFont typeface="Arial" panose="020B0604020202020204" pitchFamily="34" charset="0"/>
                        <a:buNone/>
                      </a:pPr>
                      <a:r>
                        <a:rPr lang="en-US"/>
                        <a:t>Cost/time/value improvements</a:t>
                      </a:r>
                    </a:p>
                  </a:txBody>
                  <a:tcPr/>
                </a:tc>
                <a:tc>
                  <a:txBody>
                    <a:bodyPr/>
                    <a:lstStyle/>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Reduced manual effort and time for reconciliation</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Minimized human errors in stock tracking</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Increased efficiency in monitoring inventory</a:t>
                      </a:r>
                      <a:endParaRPr lang="en-US" sz="1800">
                        <a:latin typeface="Calibri"/>
                        <a:ea typeface="Calibri"/>
                        <a:cs typeface="Calibri"/>
                      </a:endParaRPr>
                    </a:p>
                  </a:txBody>
                  <a:tcPr/>
                </a:tc>
                <a:extLst>
                  <a:ext uri="{0D108BD9-81ED-4DB2-BD59-A6C34878D82A}">
                    <a16:rowId xmlns:a16="http://schemas.microsoft.com/office/drawing/2014/main" val="672518870"/>
                  </a:ext>
                </a:extLst>
              </a:tr>
              <a:tr h="770890">
                <a:tc>
                  <a:txBody>
                    <a:bodyPr/>
                    <a:lstStyle/>
                    <a:p>
                      <a:pPr marL="0" indent="0">
                        <a:buFont typeface="Arial" panose="020B0604020202020204" pitchFamily="34" charset="0"/>
                        <a:buNone/>
                      </a:pPr>
                      <a:r>
                        <a:rPr lang="en-US"/>
                        <a:t>Key Metrics</a:t>
                      </a:r>
                    </a:p>
                  </a:txBody>
                  <a:tcPr/>
                </a:tc>
                <a:tc>
                  <a:txBody>
                    <a:bodyPr/>
                    <a:lstStyle/>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Number of mismatches detected</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Total IN vs OUT quantities</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Reconciliation accuracy rate</a:t>
                      </a:r>
                      <a:endParaRPr lang="en-US" sz="1800">
                        <a:latin typeface="Calibri"/>
                        <a:ea typeface="Calibri"/>
                        <a:cs typeface="Calibri"/>
                      </a:endParaRPr>
                    </a:p>
                    <a:p>
                      <a:pPr marL="285750" lvl="0" indent="-285750" algn="l">
                        <a:lnSpc>
                          <a:spcPct val="100000"/>
                        </a:lnSpc>
                        <a:spcBef>
                          <a:spcPts val="0"/>
                        </a:spcBef>
                        <a:spcAft>
                          <a:spcPts val="0"/>
                        </a:spcAft>
                        <a:buFont typeface="Arial"/>
                        <a:buChar char="•"/>
                      </a:pPr>
                      <a:r>
                        <a:rPr lang="en-US" sz="1800" b="0" i="0" u="none" strike="noStrike" noProof="0">
                          <a:latin typeface="Calibri"/>
                          <a:ea typeface="Calibri"/>
                          <a:cs typeface="Calibri"/>
                        </a:rPr>
                        <a:t>Time saved in report generation</a:t>
                      </a:r>
                      <a:endParaRPr lang="en-US" sz="1800">
                        <a:latin typeface="Calibri"/>
                        <a:ea typeface="Calibri"/>
                        <a:cs typeface="Calibri"/>
                      </a:endParaRPr>
                    </a:p>
                  </a:txBody>
                  <a:tcPr/>
                </a:tc>
                <a:extLst>
                  <a:ext uri="{0D108BD9-81ED-4DB2-BD59-A6C34878D82A}">
                    <a16:rowId xmlns:a16="http://schemas.microsoft.com/office/drawing/2014/main" val="1404047477"/>
                  </a:ext>
                </a:extLst>
              </a:tr>
            </a:tbl>
          </a:graphicData>
        </a:graphic>
      </p:graphicFrame>
    </p:spTree>
    <p:extLst>
      <p:ext uri="{BB962C8B-B14F-4D97-AF65-F5344CB8AC3E}">
        <p14:creationId xmlns:p14="http://schemas.microsoft.com/office/powerpoint/2010/main" val="1317243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4391153"/>
      </p:ext>
    </p:extLst>
  </p:cSld>
  <p:clrMapOvr>
    <a:masterClrMapping/>
  </p:clrMapOvr>
</p:sld>
</file>

<file path=ppt/theme/theme1.xml><?xml version="1.0" encoding="utf-8"?>
<a:theme xmlns:a="http://schemas.openxmlformats.org/drawingml/2006/main" name="4_Slides Master">
  <a:themeElements>
    <a:clrScheme name="Mphasis">
      <a:dk1>
        <a:sysClr val="windowText" lastClr="000000"/>
      </a:dk1>
      <a:lt1>
        <a:sysClr val="window" lastClr="FFFFFF"/>
      </a:lt1>
      <a:dk2>
        <a:srgbClr val="00325B"/>
      </a:dk2>
      <a:lt2>
        <a:srgbClr val="22988A"/>
      </a:lt2>
      <a:accent1>
        <a:srgbClr val="199DD1"/>
      </a:accent1>
      <a:accent2>
        <a:srgbClr val="B586BF"/>
      </a:accent2>
      <a:accent3>
        <a:srgbClr val="A0CD49"/>
      </a:accent3>
      <a:accent4>
        <a:srgbClr val="00325B"/>
      </a:accent4>
      <a:accent5>
        <a:srgbClr val="199DD1"/>
      </a:accent5>
      <a:accent6>
        <a:srgbClr val="595959"/>
      </a:accent6>
      <a:hlink>
        <a:srgbClr val="FFFFFF"/>
      </a:hlink>
      <a:folHlink>
        <a:srgbClr val="A0CD49"/>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phasis PPT Template_Nov2023" id="{1B2DFAC1-B39A-4E2F-A322-FB077CD5D9AA}" vid="{32200839-60F2-4D52-B4BB-35CCE150B30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100C78C53572458B21F34283827D3B" ma:contentTypeVersion="9" ma:contentTypeDescription="Create a new document." ma:contentTypeScope="" ma:versionID="6913fbde07474b49bbc45e5f64201255">
  <xsd:schema xmlns:xsd="http://www.w3.org/2001/XMLSchema" xmlns:xs="http://www.w3.org/2001/XMLSchema" xmlns:p="http://schemas.microsoft.com/office/2006/metadata/properties" xmlns:ns3="d897967d-03a8-42de-ba41-d7cf01ee8c12" targetNamespace="http://schemas.microsoft.com/office/2006/metadata/properties" ma:root="true" ma:fieldsID="7d7a5c545fa2d40513724109b9ecd5de" ns3:_="">
    <xsd:import namespace="d897967d-03a8-42de-ba41-d7cf01ee8c1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97967d-03a8-42de-ba41-d7cf01ee8c1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d897967d-03a8-42de-ba41-d7cf01ee8c12" xsi:nil="true"/>
  </documentManagement>
</p:properties>
</file>

<file path=customXml/itemProps1.xml><?xml version="1.0" encoding="utf-8"?>
<ds:datastoreItem xmlns:ds="http://schemas.openxmlformats.org/officeDocument/2006/customXml" ds:itemID="{D2B40CF7-F5CD-4FAD-83BD-16A468273569}">
  <ds:schemaRefs>
    <ds:schemaRef ds:uri="d897967d-03a8-42de-ba41-d7cf01ee8c1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D961899-FBFA-49A7-BEF6-F7A44DE7BD49}">
  <ds:schemaRefs>
    <ds:schemaRef ds:uri="http://schemas.microsoft.com/sharepoint/v3/contenttype/forms"/>
  </ds:schemaRefs>
</ds:datastoreItem>
</file>

<file path=customXml/itemProps3.xml><?xml version="1.0" encoding="utf-8"?>
<ds:datastoreItem xmlns:ds="http://schemas.openxmlformats.org/officeDocument/2006/customXml" ds:itemID="{17A8EF4B-3633-42B6-A925-6DD613C132AD}">
  <ds:schemaRefs>
    <ds:schemaRef ds:uri="d897967d-03a8-42de-ba41-d7cf01ee8c1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665b6c62-7310-4d39-9abb-32a0cbc3b90f}" enabled="0" method="" siteId="{665b6c62-7310-4d39-9abb-32a0cbc3b90f}" removed="1"/>
</clbl:labelList>
</file>

<file path=docProps/app.xml><?xml version="1.0" encoding="utf-8"?>
<Properties xmlns="http://schemas.openxmlformats.org/officeDocument/2006/extended-properties" xmlns:vt="http://schemas.openxmlformats.org/officeDocument/2006/docPropsVTypes">
  <Template>Mphasis PPT Template_Nov2023</Template>
  <TotalTime>0</TotalTime>
  <Words>1079</Words>
  <Application>Microsoft Office PowerPoint</Application>
  <PresentationFormat>Widescreen</PresentationFormat>
  <Paragraphs>114</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Calibri</vt:lpstr>
      <vt:lpstr>Times New Roman</vt:lpstr>
      <vt:lpstr>Wingdings</vt:lpstr>
      <vt:lpstr>4_Slides Master</vt:lpstr>
      <vt:lpstr>Inventory Reconciliation Mini‑App</vt:lpstr>
      <vt:lpstr>Team Introduction</vt:lpstr>
      <vt:lpstr>Problem Statement </vt:lpstr>
      <vt:lpstr>Solution Overview/ Idea</vt:lpstr>
      <vt:lpstr>Solution Implementation –High Level Architecture</vt:lpstr>
      <vt:lpstr>Solution Implementation</vt:lpstr>
      <vt:lpstr>Three Key Features</vt:lpstr>
      <vt:lpstr>Demo Video With Explanation</vt:lpstr>
      <vt:lpstr>Screenshots</vt:lpstr>
      <vt:lpstr>Screenshots</vt:lpstr>
      <vt:lpstr>Screenshots</vt:lpstr>
      <vt:lpstr>Outcomes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Mphasis Proposal</dc:title>
  <dc:creator>Jobin Abraham</dc:creator>
  <cp:lastModifiedBy>Thutukuri Jagadeesh</cp:lastModifiedBy>
  <cp:revision>4</cp:revision>
  <dcterms:created xsi:type="dcterms:W3CDTF">2023-11-17T15:57:09Z</dcterms:created>
  <dcterms:modified xsi:type="dcterms:W3CDTF">2026-06-05T06:25:03Z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0x0101006C100C78C53572458B21F34283827D3B</vt:lpwstr>
  </property>
  <property fmtid="{D5CDD505-2E9C-101B-9397-08002B2CF9AE}" pid="3" name="MediaServiceImageTags">
    <vt:lpwstr/>
  </property>
  <property fmtid="{D5CDD505-2E9C-101B-9397-08002B2CF9AE}" pid="4" name="Technical Area">
    <vt:lpwstr>AMS</vt:lpwstr>
  </property>
  <property fmtid="{D5CDD505-2E9C-101B-9397-08002B2CF9AE}" pid="5" name="Tower">
    <vt:lpwstr>BPS</vt:lpwstr>
  </property>
</Properties>
</file>